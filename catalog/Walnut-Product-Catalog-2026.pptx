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c1fef634-3fda-008e-960a-f58924d04606}">
          <p14:sldIdLst>
            <p14:sldId id="256"/>
          </p14:sldIdLst>
        </p14:section>
        <p14:section name="Introduction" id="{79e9ed03-1a40-112e-fa46-75e16e177ac9}">
          <p14:sldIdLst>
            <p14:sldId id="257"/>
          </p14:sldIdLst>
        </p14:section>
        <p14:section name="Company" id="{db266296-8b58-6e56-b1eb-2b188a98e70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83"/>
            <p14:sldId id="284"/>
          </p14:sldIdLst>
        </p14:section>
        <p14:section name="Medical" id="{fb77033e-7db5-ef6b-decc-ae3730c1e913}">
          <p14:sldIdLst>
            <p14:sldId id="265"/>
            <p14:sldId id="266"/>
            <p14:sldId id="267"/>
            <p14:sldId id="268"/>
          </p14:sldIdLst>
        </p14:section>
        <p14:section name="Neuro-rehab" id="{72c79c55-82e7-bfbc-200d-46205a20803a}">
          <p14:sldIdLst>
            <p14:sldId id="269"/>
            <p14:sldId id="270"/>
            <p14:sldId id="271"/>
          </p14:sldIdLst>
        </p14:section>
        <p14:section name="Fintech" id="{13e7f15e-882f-4572-55ca-3d1825ed0c53}">
          <p14:sldIdLst>
            <p14:sldId id="272"/>
            <p14:sldId id="273"/>
            <p14:sldId id="274"/>
          </p14:sldIdLst>
        </p14:section>
        <p14:section name="Automotive" id="{066a7995-7985-8438-a90e-3f0f9bba4e49}">
          <p14:sldIdLst>
            <p14:sldId id="275"/>
            <p14:sldId id="276"/>
            <p14:sldId id="277"/>
            <p14:sldId id="278"/>
            <p14:sldId id="279"/>
          </p14:sldIdLst>
        </p14:section>
        <p14:section name="IoT" id="{920d36a9-e6b8-7070-6370-9521e5fcbc6b}">
          <p14:sldIdLst>
            <p14:sldId id="280"/>
            <p14:sldId id="281"/>
            <p14:sldId id="282"/>
          </p14:sldIdLst>
        </p14:section>
        <p14:section name="Company" id="{30c7f830-03c0-cc2d-aa02-b076a1a7fa6d}">
          <p14:sldIdLst/>
        </p14:section>
        <p14:section name="Contact" id="{cb26707f-e448-caa0-fbf2-082ce72c8f24}">
          <p14:sldIdLst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bcom\Documents\Walnut\catalog\source\assets\wm-ink.png">    </p:cNvPr>
          <p:cNvPicPr>
            <a:picLocks noChangeAspect="1"/>
          </p:cNvPicPr>
          <p:nvPr/>
        </p:nvPicPr>
        <p:blipFill>
          <a:blip r:embed="rId1">
            <a:alphaModFix amt="5000"/>
          </a:blip>
          <a:stretch>
            <a:fillRect/>
          </a:stretch>
        </p:blipFill>
        <p:spPr>
          <a:xfrm>
            <a:off x="4206240" y="8732520"/>
            <a:ext cx="3566160" cy="13350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9994392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pic>
        <p:nvPicPr>
          <p:cNvPr id="4" name="Image 1" descr="C:\Users\Abcom\Documents\Walnut\catalog\source\assets\logo-wal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104120"/>
            <a:ext cx="902825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57600" y="1012240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walnutmedical.in</a:t>
            </a:r>
            <a:endParaRPr lang="en-US" sz="8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image" Target="../media/image-6-6.jpg"/><Relationship Id="rId7" Type="http://schemas.openxmlformats.org/officeDocument/2006/relationships/image" Target="../media/image-6-7.jp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jpg"/><Relationship Id="rId8" Type="http://schemas.openxmlformats.org/officeDocument/2006/relationships/image" Target="../media/image-8-8.jpg"/><Relationship Id="rId9" Type="http://schemas.openxmlformats.org/officeDocument/2006/relationships/image" Target="../media/image-8-9.jpg"/><Relationship Id="rId10" Type="http://schemas.openxmlformats.org/officeDocument/2006/relationships/image" Target="../media/image-8-10.jp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image" Target="../media/image-11-2.png"/><Relationship Id="rId7" Type="http://schemas.openxmlformats.org/officeDocument/2006/relationships/image" Target="../media/image-11-2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6.jpg"/><Relationship Id="rId7" Type="http://schemas.openxmlformats.org/officeDocument/2006/relationships/image" Target="../media/image-12-2.png"/><Relationship Id="rId8" Type="http://schemas.openxmlformats.org/officeDocument/2006/relationships/image" Target="../media/image-12-2.png"/><Relationship Id="rId9" Type="http://schemas.openxmlformats.org/officeDocument/2006/relationships/image" Target="../media/image-12-2.png"/><Relationship Id="rId10" Type="http://schemas.openxmlformats.org/officeDocument/2006/relationships/image" Target="../media/image-12-2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image" Target="../media/image-13-2.png"/><Relationship Id="rId7" Type="http://schemas.openxmlformats.org/officeDocument/2006/relationships/image" Target="../media/image-13-2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6.jpg"/><Relationship Id="rId7" Type="http://schemas.openxmlformats.org/officeDocument/2006/relationships/image" Target="../media/image-16-2.png"/><Relationship Id="rId8" Type="http://schemas.openxmlformats.org/officeDocument/2006/relationships/image" Target="../media/image-16-2.png"/><Relationship Id="rId9" Type="http://schemas.openxmlformats.org/officeDocument/2006/relationships/image" Target="../media/image-16-2.png"/><Relationship Id="rId10" Type="http://schemas.openxmlformats.org/officeDocument/2006/relationships/image" Target="../media/image-16-2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2.png"/><Relationship Id="rId5" Type="http://schemas.openxmlformats.org/officeDocument/2006/relationships/image" Target="../media/image-19-2.png"/><Relationship Id="rId6" Type="http://schemas.openxmlformats.org/officeDocument/2006/relationships/image" Target="../media/image-19-6.jpg"/><Relationship Id="rId7" Type="http://schemas.openxmlformats.org/officeDocument/2006/relationships/image" Target="../media/image-19-2.png"/><Relationship Id="rId8" Type="http://schemas.openxmlformats.org/officeDocument/2006/relationships/image" Target="../media/image-19-2.png"/><Relationship Id="rId9" Type="http://schemas.openxmlformats.org/officeDocument/2006/relationships/image" Target="../media/image-19-2.png"/><Relationship Id="rId10" Type="http://schemas.openxmlformats.org/officeDocument/2006/relationships/image" Target="../media/image-19-2.png"/><Relationship Id="rId11" Type="http://schemas.openxmlformats.org/officeDocument/2006/relationships/image" Target="../media/image-19-11.jpg"/><Relationship Id="rId12" Type="http://schemas.openxmlformats.org/officeDocument/2006/relationships/image" Target="../media/image-19-2.png"/><Relationship Id="rId13" Type="http://schemas.openxmlformats.org/officeDocument/2006/relationships/image" Target="../media/image-19-2.png"/><Relationship Id="rId14" Type="http://schemas.openxmlformats.org/officeDocument/2006/relationships/image" Target="../media/image-19-2.png"/><Relationship Id="rId15" Type="http://schemas.openxmlformats.org/officeDocument/2006/relationships/image" Target="../media/image-19-2.png"/><Relationship Id="rId16" Type="http://schemas.openxmlformats.org/officeDocument/2006/relationships/image" Target="../media/image-19-16.jpg"/><Relationship Id="rId17" Type="http://schemas.openxmlformats.org/officeDocument/2006/relationships/image" Target="../media/image-19-2.png"/><Relationship Id="rId18" Type="http://schemas.openxmlformats.org/officeDocument/2006/relationships/image" Target="../media/image-19-2.png"/><Relationship Id="rId19" Type="http://schemas.openxmlformats.org/officeDocument/2006/relationships/image" Target="../media/image-19-2.png"/><Relationship Id="rId20" Type="http://schemas.openxmlformats.org/officeDocument/2006/relationships/image" Target="../media/image-19-2.png"/><Relationship Id="rId21" Type="http://schemas.openxmlformats.org/officeDocument/2006/relationships/slideLayout" Target="../slideLayouts/slideLayout4.xml"/><Relationship Id="rId2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png"/><Relationship Id="rId3" Type="http://schemas.openxmlformats.org/officeDocument/2006/relationships/image" Target="../media/image-21-2.png"/><Relationship Id="rId4" Type="http://schemas.openxmlformats.org/officeDocument/2006/relationships/image" Target="../media/image-21-2.png"/><Relationship Id="rId5" Type="http://schemas.openxmlformats.org/officeDocument/2006/relationships/image" Target="../media/image-21-2.png"/><Relationship Id="rId6" Type="http://schemas.openxmlformats.org/officeDocument/2006/relationships/image" Target="../media/image-21-2.png"/><Relationship Id="rId7" Type="http://schemas.openxmlformats.org/officeDocument/2006/relationships/image" Target="../media/image-21-2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jp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2.png"/><Relationship Id="rId4" Type="http://schemas.openxmlformats.org/officeDocument/2006/relationships/image" Target="../media/image-24-2.png"/><Relationship Id="rId5" Type="http://schemas.openxmlformats.org/officeDocument/2006/relationships/image" Target="../media/image-24-2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2.png"/><Relationship Id="rId4" Type="http://schemas.openxmlformats.org/officeDocument/2006/relationships/image" Target="../media/image-26-2.png"/><Relationship Id="rId5" Type="http://schemas.openxmlformats.org/officeDocument/2006/relationships/image" Target="../media/image-26-2.png"/><Relationship Id="rId6" Type="http://schemas.openxmlformats.org/officeDocument/2006/relationships/image" Target="../media/image-26-2.png"/><Relationship Id="rId7" Type="http://schemas.openxmlformats.org/officeDocument/2006/relationships/image" Target="../media/image-26-2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png"/><Relationship Id="rId3" Type="http://schemas.openxmlformats.org/officeDocument/2006/relationships/image" Target="../media/image-27-2.png"/><Relationship Id="rId4" Type="http://schemas.openxmlformats.org/officeDocument/2006/relationships/image" Target="../media/image-27-2.png"/><Relationship Id="rId5" Type="http://schemas.openxmlformats.org/officeDocument/2006/relationships/image" Target="../media/image-27-2.png"/><Relationship Id="rId6" Type="http://schemas.openxmlformats.org/officeDocument/2006/relationships/image" Target="../media/image-27-2.png"/><Relationship Id="rId7" Type="http://schemas.openxmlformats.org/officeDocument/2006/relationships/image" Target="../media/image-27-2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2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6.png"/><Relationship Id="rId14" Type="http://schemas.openxmlformats.org/officeDocument/2006/relationships/image" Target="../media/image-28-14.png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jpg"/><Relationship Id="rId14" Type="http://schemas.openxmlformats.org/officeDocument/2006/relationships/slideLayout" Target="../slideLayouts/slideLayout4.xml"/><Relationship Id="rId1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lnut Technolog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458410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3"/>
                </a:solidFill>
              </a:rPr>
              <a:t>PRODUCT CATALOG 2026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65960"/>
            <a:ext cx="61904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Intelligent Embedded Systems, Engineered for a Connected World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Medical  ·  Neuro-rehabilitation  ·  Fintech  ·  Automotive  ·  IoT</a:t>
            </a:r>
            <a:endParaRPr lang="en-US" sz="1100" dirty="0"/>
          </a:p>
        </p:txBody>
      </p:sp>
      <p:pic>
        <p:nvPicPr>
          <p:cNvPr id="6" name="Image 1" descr="Walnut Technologies buil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7562088" cy="52943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0122408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3"/>
                </a:solidFill>
              </a:rPr>
              <a:t>Walnut Technologies Pvt. Ltd.  ·  Mohali, India  ·  walnutmedical.in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CONTENTS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Inside this catalog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64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Walnut Medical &amp; Walnut Technologies design and manufacture electronics end to end — from idea and PCB design to SMT, assembly, testing and dispatch. This catalog introduces the company and every product line we build.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33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61518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About Walnut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92608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Who we are, at a glance, leadership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633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03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649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34670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journey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65760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2016 – 2026 milestones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33649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096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07822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Infrastructure &amp; quality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912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Facilities, production process, certifications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73368" y="4096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828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0974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Medical devices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12064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BP monitor, thermometer, nebulizer, oxygen concentrator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373368" y="48280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559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54126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Neuro-rehabilitation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85216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WalkLab, Weebo, CES Repose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373368" y="5559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14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48640" y="612648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6291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627278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Fintech &amp; payment devices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658368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Soundbox platform and models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373368" y="6291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17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48640" y="685800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7022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1280160" y="700430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Automotive electronics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731520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5″ &amp; 7″ clusters, Google Maps mirroring, tractor suite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373368" y="7022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48640" y="758952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77541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280160" y="773582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IoT solutions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280160" y="804672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GPS tracker &amp; gateway, 4G smart lock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373368" y="77541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25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48640" y="832104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84856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09</a:t>
            </a:r>
            <a:endParaRPr lang="en-US" sz="1800" dirty="0"/>
          </a:p>
        </p:txBody>
      </p:sp>
      <p:sp>
        <p:nvSpPr>
          <p:cNvPr id="47" name="Text 45"/>
          <p:cNvSpPr txBox="1"/>
          <p:nvPr/>
        </p:nvSpPr>
        <p:spPr>
          <a:xfrm>
            <a:off x="1280160" y="846734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Expertise &amp; clients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280160" y="877824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Capabilities, brands and industries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6373368" y="84856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28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548640" y="905256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9217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10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1280160" y="919886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Contact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1280160" y="9509760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Addresses and contacts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373368" y="92171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01 · ABOUT WALNUT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Who we are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64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chemeClr val="tx1"/>
                </a:solidFill>
              </a:rPr>
              <a:t>Walnut Medical &amp; Walnut Technologies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 is a multi-vertical original design and equipment manufacturer (ODM/OEM). Established in 2016, we have grown from a small electronics workshop into a vertically integrated design and manufacturing partner for medical devices, neuro-rehabilitation robotics, payment devices, IoT and automotive electronics.</a:t>
            </a:r>
            <a:endParaRPr lang="en-US" sz="1150" dirty="0"/>
          </a:p>
        </p:txBody>
      </p:sp>
      <p:pic>
        <p:nvPicPr>
          <p:cNvPr id="5" name="Image 0" descr="Walnut assembly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0"/>
            <a:ext cx="3140964" cy="3566160"/>
          </a:xfrm>
          <a:prstGeom prst="rect">
            <a:avLst/>
          </a:prstGeom>
        </p:spPr>
      </p:pic>
      <p:pic>
        <p:nvPicPr>
          <p:cNvPr id="6" name="Image 1" descr="Microscope soldering and rewo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484" y="2743200"/>
            <a:ext cx="3140964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6537960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8" name="Image 2" descr="C:\Users\Abcom\Documents\Walnut\catalog\source\assets\icons\FiMapPin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7" y="6631777"/>
            <a:ext cx="159837" cy="15983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51560" y="6519672"/>
            <a:ext cx="5916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Production units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1051560" y="676656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Mohali (Punjab) · AMTZ, Visakhapatnam (Andhra Pradesh) · Dhanana (Upcoming in Haryana)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548640" y="7196328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2" name="Image 3" descr="C:\Users\Abcom\Documents\Walnut\catalog\source\assets\icons\FiLayers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7" y="7290145"/>
            <a:ext cx="159837" cy="15983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51560" y="7178040"/>
            <a:ext cx="5916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Fully in-house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1051560" y="7424928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Electronics &amp; firmware design, mould design, SMT, testing, quality and dispatch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548640" y="7854696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6" name="Image 4" descr="C:\Users\Abcom\Documents\Walnut\catalog\source\assets\icons\FiAward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57" y="7948513"/>
            <a:ext cx="159837" cy="15983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7836408"/>
            <a:ext cx="5916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Certified quality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1051560" y="8083296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ISO 13485 · Class 10K cleanroom · CE · FCC · BIS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01 · ABOUT WALNUT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Walnut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2743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10+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Years of excellence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810256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600+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810256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Engineers &amp; technicians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1832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10+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751832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Countries served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500K+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Units / month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810256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150,000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810256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Sq. ft facility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751832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751832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SMT lines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311810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800600"/>
            <a:ext cx="365760" cy="365760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9" name="Image 0" descr="C:\Users\Abcom\Documents\Walnut\catalog\source\assets\icons\FiTarge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4899355"/>
            <a:ext cx="168250" cy="16825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280160" y="482803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Mission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303520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Deliver world-class original design manufacturing for electronics across healthcare, finance and technology — globally.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95344" y="4572000"/>
            <a:ext cx="3118104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3" name="Shape 20"/>
          <p:cNvSpPr/>
          <p:nvPr/>
        </p:nvSpPr>
        <p:spPr>
          <a:xfrm>
            <a:off x="4123944" y="4800600"/>
            <a:ext cx="365760" cy="365760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4" name="Image 1" descr="C:\Users\Abcom\Documents\Walnut\catalog\source\assets\icons\FiEy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699" y="4899355"/>
            <a:ext cx="168250" cy="16825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626864" y="482803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Vision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4123944" y="5303520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The most trusted ODM partner for mission-critical electronics, ISO 13485 certified, serving 50+ countries by 2030.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40080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OUR VALUES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548640" y="6693408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9" name="Image 2" descr="C:\Users\Abcom\Documents\Walnut\catalog\source\assets\icons\FiAward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20" y="6782288"/>
            <a:ext cx="151425" cy="15142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05840" y="667512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Quality first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1005840" y="693115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ISO 13485 and ISO 9001 certified processes with a Class 10K cleanroom.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895344" y="6693408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33" name="Image 3" descr="C:\Users\Abcom\Documents\Walnut\catalog\source\assets\icons\FiZap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224" y="6782288"/>
            <a:ext cx="151425" cy="151425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4352544" y="667512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Innovation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4352544" y="693115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600+ engineers pushing boundaries in medical, payment and custom electronics.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48640" y="7607808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37" name="Image 4" descr="C:\Users\Abcom\Documents\Walnut\catalog\source\assets\icons\FiGlobe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20" y="7696688"/>
            <a:ext cx="151425" cy="151425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05840" y="758952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Global reach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1005840" y="784555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Serving 10+ countries with end-to-end manufacturing and logistics.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3895344" y="7607808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41" name="Image 5" descr="C:\Users\Abcom\Documents\Walnut\catalog\source\assets\icons\FiLayers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4224" y="7696688"/>
            <a:ext cx="151425" cy="15142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4352544" y="758952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Vertical integration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4352544" y="7845552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From PCB design to final assembly — complete in-house capabilities.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01 · ABOUT WALNUT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Leadership</a:t>
            </a:r>
            <a:endParaRPr lang="en-US" sz="2600" dirty="0"/>
          </a:p>
        </p:txBody>
      </p:sp>
      <p:pic>
        <p:nvPicPr>
          <p:cNvPr id="4" name="Image 0" descr="Walnut engineering team at 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464808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646480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5806440"/>
            <a:ext cx="777240" cy="77724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5806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5824728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Siddharth Dhawan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828800" y="6135624"/>
            <a:ext cx="4910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Director &amp; CEO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6446520"/>
            <a:ext cx="4910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Spent 10 years at National Instruments Corp. in the USA and India, working in high-tech embedded and control systems and managing the business in India.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7726680"/>
            <a:ext cx="6464808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8001000"/>
            <a:ext cx="777240" cy="77724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8001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AB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8019288"/>
            <a:ext cx="4910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Amol Bhardwaj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8330184"/>
            <a:ext cx="4910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Director &amp; CTO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8641080"/>
            <a:ext cx="4910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Leads medical device development; launched devices across diagnostics, therapeutics and robotics — EEG, ECG, rTMS and gait training robots. Expert in QC tools, SPC, APQP, PPAP, Six Sigma, Cpk and 5S; Management Representative for ISO 13485 and CE audits (2009–2014).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02 · JOURNEY 2016 – 2026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Our journey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423160" y="2011680"/>
            <a:ext cx="0" cy="7022592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6" name="Image 0" descr="Walnut Medical found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27632"/>
            <a:ext cx="1371600" cy="8138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22576" y="1929384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97480" y="16642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2016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657600" y="168249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Walnut Medical founded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96596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Started with a vision to make quality healthcare more accessible.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48640" y="2724912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12" name="Image 1" descr="Robotics &amp; neuro-reh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98064"/>
            <a:ext cx="1371600" cy="8138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22576" y="3099816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69748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2017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285292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Robotics &amp; neuro-rehab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3136392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Walkex functional therapy and the WalkLab gait-training robot.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48640" y="3895344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18" name="Image 2" descr="Medical devic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68496"/>
            <a:ext cx="1371600" cy="81381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2322576" y="427024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697480" y="40050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2019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3657600" y="402336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Medical devices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657600" y="4306824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IR thermometer and digital BP monitor, then nebulizers and oxygen concentrators.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48640" y="5065776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24" name="Image 3" descr="Walnut Technologi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38928"/>
            <a:ext cx="1371600" cy="81381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2322576" y="5440680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2697480" y="517550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2021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3657600" y="519379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Walnut Technologies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3657600" y="5477256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Engineering expands beyond healthcare into electronics for every industry.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548640" y="6236208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30" name="Image 4" descr="Fintech · soundbox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309360"/>
            <a:ext cx="1371600" cy="81381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2322576" y="6611112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2697480" y="634593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2022</a:t>
            </a:r>
            <a:endParaRPr lang="en-US" sz="2200" dirty="0"/>
          </a:p>
        </p:txBody>
      </p:sp>
      <p:sp>
        <p:nvSpPr>
          <p:cNvPr id="33" name="Text 26"/>
          <p:cNvSpPr txBox="1"/>
          <p:nvPr/>
        </p:nvSpPr>
        <p:spPr>
          <a:xfrm>
            <a:off x="3657600" y="6364224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Fintech · soundbox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3657600" y="6647688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Smart payment soundboxes and POS devices, in mass production from 2023.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48640" y="7406640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36" name="Image 5" descr="Smart clust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7479792"/>
            <a:ext cx="1371600" cy="813816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2322576" y="7781544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2697480" y="751636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2025</a:t>
            </a:r>
            <a:endParaRPr lang="en-US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3657600" y="753465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Smart clusters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3657600" y="781812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5″ and 7″ smart instrument clusters for 2-wheelers, tractors and vehicles.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548640" y="8577072"/>
            <a:ext cx="155448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9525">
            <a:solidFill>
              <a:srgbClr val="111111"/>
            </a:solidFill>
            <a:prstDash val="solid"/>
          </a:ln>
        </p:spPr>
      </p:sp>
      <p:pic>
        <p:nvPicPr>
          <p:cNvPr id="42" name="Image 6" descr="GPS tracker &amp; Io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8650224"/>
            <a:ext cx="1371600" cy="813816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2322576" y="895197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2697480" y="8686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2026</a:t>
            </a:r>
            <a:endParaRPr lang="en-US" sz="2200" dirty="0"/>
          </a:p>
        </p:txBody>
      </p:sp>
      <p:sp>
        <p:nvSpPr>
          <p:cNvPr id="45" name="Text 36"/>
          <p:cNvSpPr txBox="1"/>
          <p:nvPr/>
        </p:nvSpPr>
        <p:spPr>
          <a:xfrm>
            <a:off x="3657600" y="870508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GPS tracker &amp; IoT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3657600" y="8988552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GPS tracker &amp; gateway and a growing range of connected IoT devices.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03 · INFRASTRUCTURE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Manufacturing infrastructure</a:t>
            </a:r>
            <a:endParaRPr lang="en-US" sz="2600" dirty="0"/>
          </a:p>
        </p:txBody>
      </p:sp>
      <p:pic>
        <p:nvPicPr>
          <p:cNvPr id="4" name="Image 0" descr="Assembly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2063496" cy="2148840"/>
          </a:xfrm>
          <a:prstGeom prst="rect">
            <a:avLst/>
          </a:prstGeom>
        </p:spPr>
      </p:pic>
      <p:pic>
        <p:nvPicPr>
          <p:cNvPr id="5" name="Image 1" descr="Functional test st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296" y="1508760"/>
            <a:ext cx="2063496" cy="2148840"/>
          </a:xfrm>
          <a:prstGeom prst="rect">
            <a:avLst/>
          </a:prstGeom>
        </p:spPr>
      </p:pic>
      <p:pic>
        <p:nvPicPr>
          <p:cNvPr id="6" name="Image 2" descr="Microscope rewo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952" y="1508760"/>
            <a:ext cx="2063496" cy="2148840"/>
          </a:xfrm>
          <a:prstGeom prst="rect">
            <a:avLst/>
          </a:prstGeom>
        </p:spPr>
      </p:pic>
      <p:pic>
        <p:nvPicPr>
          <p:cNvPr id="7" name="Image 3" descr="Environmental test chamb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94760"/>
            <a:ext cx="2063496" cy="2148840"/>
          </a:xfrm>
          <a:prstGeom prst="rect">
            <a:avLst/>
          </a:prstGeom>
        </p:spPr>
      </p:pic>
      <p:pic>
        <p:nvPicPr>
          <p:cNvPr id="8" name="Image 4" descr="Assembly pres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9296" y="3794760"/>
            <a:ext cx="2063496" cy="2148840"/>
          </a:xfrm>
          <a:prstGeom prst="rect">
            <a:avLst/>
          </a:prstGeom>
        </p:spPr>
      </p:pic>
      <p:pic>
        <p:nvPicPr>
          <p:cNvPr id="9" name="Image 5" descr="Packing &amp; weigh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952" y="3794760"/>
            <a:ext cx="2063496" cy="2148840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548640" y="626364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1" name="Image 6" descr="C:\Users\Abcom\Documents\Walnut\catalog\source\assets\icons\FiHome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20" y="6352520"/>
            <a:ext cx="151425" cy="151425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1005840" y="624535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150,000 sq. ft facility</a:t>
            </a:r>
            <a:endParaRPr lang="en-US" sz="1050" dirty="0"/>
          </a:p>
        </p:txBody>
      </p:sp>
      <p:sp>
        <p:nvSpPr>
          <p:cNvPr id="13" name="Text 4"/>
          <p:cNvSpPr txBox="1"/>
          <p:nvPr/>
        </p:nvSpPr>
        <p:spPr>
          <a:xfrm>
            <a:off x="1005840" y="649224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Mohali · AMTZ Visakhapatnam · Dhanana (Upcoming in Haryana)</a:t>
            </a:r>
            <a:endParaRPr lang="en-US" sz="900" dirty="0"/>
          </a:p>
        </p:txBody>
      </p:sp>
      <p:sp>
        <p:nvSpPr>
          <p:cNvPr id="14" name="Shape 5"/>
          <p:cNvSpPr/>
          <p:nvPr/>
        </p:nvSpPr>
        <p:spPr>
          <a:xfrm>
            <a:off x="3895344" y="626364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5" name="Image 7" descr="C:\Users\Abcom\Documents\Walnut\catalog\source\assets\icons\FiCpu-l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4224" y="6352520"/>
            <a:ext cx="151425" cy="151425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4352544" y="624535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4 SMT production lines</a:t>
            </a:r>
            <a:endParaRPr lang="en-US" sz="1050" dirty="0"/>
          </a:p>
        </p:txBody>
      </p:sp>
      <p:sp>
        <p:nvSpPr>
          <p:cNvPr id="17" name="Text 7"/>
          <p:cNvSpPr txBox="1"/>
          <p:nvPr/>
        </p:nvSpPr>
        <p:spPr>
          <a:xfrm>
            <a:off x="4352544" y="649224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Fully automatic SMT — JUKI RS-1, 100,000 CPH</a:t>
            </a:r>
            <a:endParaRPr lang="en-US" sz="900" dirty="0"/>
          </a:p>
        </p:txBody>
      </p:sp>
      <p:sp>
        <p:nvSpPr>
          <p:cNvPr id="18" name="Shape 8"/>
          <p:cNvSpPr/>
          <p:nvPr/>
        </p:nvSpPr>
        <p:spPr>
          <a:xfrm>
            <a:off x="548640" y="7013448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9" name="Image 8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520" y="7102328"/>
            <a:ext cx="151425" cy="151425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1005840" y="699516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In-house test &amp; calibration</a:t>
            </a:r>
            <a:endParaRPr lang="en-US" sz="1050" dirty="0"/>
          </a:p>
        </p:txBody>
      </p:sp>
      <p:sp>
        <p:nvSpPr>
          <p:cNvPr id="21" name="Text 10"/>
          <p:cNvSpPr txBox="1"/>
          <p:nvPr/>
        </p:nvSpPr>
        <p:spPr>
          <a:xfrm>
            <a:off x="1005840" y="724204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Keysight · National Instruments · Rigol · Tektronix</a:t>
            </a:r>
            <a:endParaRPr lang="en-US" sz="900" dirty="0"/>
          </a:p>
        </p:txBody>
      </p:sp>
      <p:sp>
        <p:nvSpPr>
          <p:cNvPr id="22" name="Shape 11"/>
          <p:cNvSpPr/>
          <p:nvPr/>
        </p:nvSpPr>
        <p:spPr>
          <a:xfrm>
            <a:off x="3895344" y="7013448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3" name="Image 9" descr="C:\Users\Abcom\Documents\Walnut\catalog\source\assets\icons\FiLayers-l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84224" y="7102328"/>
            <a:ext cx="151425" cy="151425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4352544" y="699516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PCB design to production</a:t>
            </a:r>
            <a:endParaRPr lang="en-US" sz="1050" dirty="0"/>
          </a:p>
        </p:txBody>
      </p:sp>
      <p:sp>
        <p:nvSpPr>
          <p:cNvPr id="25" name="Text 13"/>
          <p:cNvSpPr txBox="1"/>
          <p:nvPr/>
        </p:nvSpPr>
        <p:spPr>
          <a:xfrm>
            <a:off x="4352544" y="7242048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Design, validation, prototyping, pilot lots, full scale</a:t>
            </a:r>
            <a:endParaRPr lang="en-US" sz="900" dirty="0"/>
          </a:p>
        </p:txBody>
      </p:sp>
      <p:sp>
        <p:nvSpPr>
          <p:cNvPr id="26" name="Shape 14"/>
          <p:cNvSpPr/>
          <p:nvPr/>
        </p:nvSpPr>
        <p:spPr>
          <a:xfrm>
            <a:off x="548640" y="7763256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7" name="Image 10" descr="C:\Users\Abcom\Documents\Walnut\catalog\source\assets\icons\FiCheckCircle-l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520" y="7852136"/>
            <a:ext cx="151425" cy="151425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1005840" y="774496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IQC · LQC · OQC quality teams</a:t>
            </a:r>
            <a:endParaRPr lang="en-US" sz="1050" dirty="0"/>
          </a:p>
        </p:txBody>
      </p:sp>
      <p:sp>
        <p:nvSpPr>
          <p:cNvPr id="29" name="Text 16"/>
          <p:cNvSpPr txBox="1"/>
          <p:nvPr/>
        </p:nvSpPr>
        <p:spPr>
          <a:xfrm>
            <a:off x="1005840" y="7991856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Class 10K cleanroom for controlled builds</a:t>
            </a:r>
            <a:endParaRPr lang="en-US" sz="900" dirty="0"/>
          </a:p>
        </p:txBody>
      </p:sp>
      <p:sp>
        <p:nvSpPr>
          <p:cNvPr id="30" name="Shape 17"/>
          <p:cNvSpPr/>
          <p:nvPr/>
        </p:nvSpPr>
        <p:spPr>
          <a:xfrm>
            <a:off x="3895344" y="7763256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31" name="Image 11" descr="C:\Users\Abcom\Documents\Walnut\catalog\source\assets\icons\FiBox-l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84224" y="7852136"/>
            <a:ext cx="151425" cy="151425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4352544" y="774496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Moulds &amp; injection moulding</a:t>
            </a:r>
            <a:endParaRPr lang="en-US" sz="1050" dirty="0"/>
          </a:p>
        </p:txBody>
      </p:sp>
      <p:sp>
        <p:nvSpPr>
          <p:cNvPr id="33" name="Text 19"/>
          <p:cNvSpPr txBox="1"/>
          <p:nvPr/>
        </p:nvSpPr>
        <p:spPr>
          <a:xfrm>
            <a:off x="4352544" y="7991856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Mass-production mould design and plastics in-house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03 · HOW WE WORK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End-to-end production process</a:t>
            </a:r>
            <a:endParaRPr lang="en-US" sz="2600" dirty="0"/>
          </a:p>
        </p:txBody>
      </p:sp>
      <p:pic>
        <p:nvPicPr>
          <p:cNvPr id="4" name="Image 0" descr="Idea &amp; Requir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16002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33172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331720" y="205740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Idea &amp; Requirement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2331720" y="251460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Clear direction</a:t>
            </a:r>
            <a:endParaRPr lang="en-US" sz="950" dirty="0"/>
          </a:p>
        </p:txBody>
      </p:sp>
      <p:pic>
        <p:nvPicPr>
          <p:cNvPr id="8" name="Image 1" descr="Research &amp; Market Analys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1508760"/>
            <a:ext cx="1600200" cy="1371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78424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678424" y="205740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Research &amp; Market Analysis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678424" y="2514600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Right opportunity</a:t>
            </a:r>
            <a:endParaRPr lang="en-US" sz="950" dirty="0"/>
          </a:p>
        </p:txBody>
      </p:sp>
      <p:pic>
        <p:nvPicPr>
          <p:cNvPr id="12" name="Image 2" descr="Design &amp; Enginee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72968"/>
            <a:ext cx="1600200" cy="1371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331720" y="3310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2331720" y="372160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Design &amp; Engineering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2331720" y="417880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Optimized design</a:t>
            </a:r>
            <a:endParaRPr lang="en-US" sz="950" dirty="0"/>
          </a:p>
        </p:txBody>
      </p:sp>
      <p:pic>
        <p:nvPicPr>
          <p:cNvPr id="16" name="Image 3" descr="Prototype Developmen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3172968"/>
            <a:ext cx="1600200" cy="1371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678424" y="33101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04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678424" y="372160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Prototype Development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5678424" y="4178808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Working prototype</a:t>
            </a:r>
            <a:endParaRPr lang="en-US" sz="950" dirty="0"/>
          </a:p>
        </p:txBody>
      </p:sp>
      <p:pic>
        <p:nvPicPr>
          <p:cNvPr id="20" name="Image 4" descr="Validation &amp; Test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37176"/>
            <a:ext cx="1600200" cy="1371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2331720" y="49743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05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2331720" y="5385816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Validation &amp; Testing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2331720" y="584301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Validated performance</a:t>
            </a:r>
            <a:endParaRPr lang="en-US" sz="950" dirty="0"/>
          </a:p>
        </p:txBody>
      </p:sp>
      <p:pic>
        <p:nvPicPr>
          <p:cNvPr id="24" name="Image 5" descr="Manufacturing Engineeri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344" y="4837176"/>
            <a:ext cx="1600200" cy="1371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678424" y="49743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06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5678424" y="5385816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Manufacturing Engineering</a:t>
            </a:r>
            <a:endParaRPr lang="en-US" sz="1150" dirty="0"/>
          </a:p>
        </p:txBody>
      </p:sp>
      <p:sp>
        <p:nvSpPr>
          <p:cNvPr id="27" name="Text 19"/>
          <p:cNvSpPr txBox="1"/>
          <p:nvPr/>
        </p:nvSpPr>
        <p:spPr>
          <a:xfrm>
            <a:off x="5678424" y="584301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Production ready</a:t>
            </a:r>
            <a:endParaRPr lang="en-US" sz="950" dirty="0"/>
          </a:p>
        </p:txBody>
      </p:sp>
      <p:pic>
        <p:nvPicPr>
          <p:cNvPr id="28" name="Image 6" descr="Quality Assuran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501384"/>
            <a:ext cx="1600200" cy="13716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2331720" y="6638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07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2331720" y="7050024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Quality Assurance</a:t>
            </a:r>
            <a:endParaRPr lang="en-US" sz="1150" dirty="0"/>
          </a:p>
        </p:txBody>
      </p:sp>
      <p:sp>
        <p:nvSpPr>
          <p:cNvPr id="31" name="Text 22"/>
          <p:cNvSpPr txBox="1"/>
          <p:nvPr/>
        </p:nvSpPr>
        <p:spPr>
          <a:xfrm>
            <a:off x="2331720" y="7507224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Zero-defect mindset</a:t>
            </a:r>
            <a:endParaRPr lang="en-US" sz="950" dirty="0"/>
          </a:p>
        </p:txBody>
      </p:sp>
      <p:pic>
        <p:nvPicPr>
          <p:cNvPr id="32" name="Image 7" descr="Packaging &amp; Dispatc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44" y="6501384"/>
            <a:ext cx="1600200" cy="13716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678424" y="6638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08</a:t>
            </a:r>
            <a:endParaRPr lang="en-US" sz="1800" dirty="0"/>
          </a:p>
        </p:txBody>
      </p:sp>
      <p:sp>
        <p:nvSpPr>
          <p:cNvPr id="34" name="Text 24"/>
          <p:cNvSpPr txBox="1"/>
          <p:nvPr/>
        </p:nvSpPr>
        <p:spPr>
          <a:xfrm>
            <a:off x="5678424" y="7050024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Packaging &amp; Dispatch</a:t>
            </a:r>
            <a:endParaRPr lang="en-US" sz="1150" dirty="0"/>
          </a:p>
        </p:txBody>
      </p:sp>
      <p:sp>
        <p:nvSpPr>
          <p:cNvPr id="35" name="Text 25"/>
          <p:cNvSpPr txBox="1"/>
          <p:nvPr/>
        </p:nvSpPr>
        <p:spPr>
          <a:xfrm>
            <a:off x="5678424" y="7507224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Safe, on-time delivery</a:t>
            </a:r>
            <a:endParaRPr lang="en-US" sz="950" dirty="0"/>
          </a:p>
        </p:txBody>
      </p:sp>
      <p:pic>
        <p:nvPicPr>
          <p:cNvPr id="36" name="Image 8" descr="After-Sales Suppor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8165592"/>
            <a:ext cx="1600200" cy="13716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2331720" y="8302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09</a:t>
            </a:r>
            <a:endParaRPr lang="en-US" sz="1800" dirty="0"/>
          </a:p>
        </p:txBody>
      </p:sp>
      <p:sp>
        <p:nvSpPr>
          <p:cNvPr id="38" name="Text 27"/>
          <p:cNvSpPr txBox="1"/>
          <p:nvPr/>
        </p:nvSpPr>
        <p:spPr>
          <a:xfrm>
            <a:off x="2331720" y="871423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After-Sales Support</a:t>
            </a:r>
            <a:endParaRPr lang="en-US" sz="1150" dirty="0"/>
          </a:p>
        </p:txBody>
      </p:sp>
      <p:sp>
        <p:nvSpPr>
          <p:cNvPr id="39" name="Text 28"/>
          <p:cNvSpPr txBox="1"/>
          <p:nvPr/>
        </p:nvSpPr>
        <p:spPr>
          <a:xfrm>
            <a:off x="2331720" y="917143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Reliable support</a:t>
            </a:r>
            <a:endParaRPr lang="en-US" sz="950" dirty="0"/>
          </a:p>
        </p:txBody>
      </p:sp>
      <p:pic>
        <p:nvPicPr>
          <p:cNvPr id="40" name="Image 9" descr="Continuous Improvemen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5344" y="8165592"/>
            <a:ext cx="1600200" cy="13716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5678424" y="8302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10</a:t>
            </a:r>
            <a:endParaRPr lang="en-US" sz="1800" dirty="0"/>
          </a:p>
        </p:txBody>
      </p:sp>
      <p:sp>
        <p:nvSpPr>
          <p:cNvPr id="42" name="Text 30"/>
          <p:cNvSpPr txBox="1"/>
          <p:nvPr/>
        </p:nvSpPr>
        <p:spPr>
          <a:xfrm>
            <a:off x="5678424" y="8714232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Continuous Improvement</a:t>
            </a:r>
            <a:endParaRPr lang="en-US" sz="1150" dirty="0"/>
          </a:p>
        </p:txBody>
      </p:sp>
      <p:sp>
        <p:nvSpPr>
          <p:cNvPr id="43" name="Text 31"/>
          <p:cNvSpPr txBox="1"/>
          <p:nvPr/>
        </p:nvSpPr>
        <p:spPr>
          <a:xfrm>
            <a:off x="5678424" y="917143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Better every day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03 · QUALITY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Quality &amp; certifications</a:t>
            </a:r>
            <a:endParaRPr lang="en-US" sz="2600" dirty="0"/>
          </a:p>
        </p:txBody>
      </p:sp>
      <p:pic>
        <p:nvPicPr>
          <p:cNvPr id="4" name="Image 0" descr="Environmental test chamb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2651760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429000" y="1508760"/>
            <a:ext cx="3584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Quality is built into every stage — incoming, in-line and outgoing inspection, environmental and functional testing, and full traceability from component to customer.</a:t>
            </a:r>
            <a:endParaRPr lang="en-US" sz="1100" dirty="0"/>
          </a:p>
        </p:txBody>
      </p:sp>
      <p:pic>
        <p:nvPicPr>
          <p:cNvPr id="6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852928"/>
            <a:ext cx="146304" cy="1463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48456" y="2834640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Incoming inspection (IQC)</a:t>
            </a:r>
            <a:endParaRPr lang="en-US" sz="1000" dirty="0"/>
          </a:p>
        </p:txBody>
      </p:sp>
      <p:pic>
        <p:nvPicPr>
          <p:cNvPr id="8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182112"/>
            <a:ext cx="146304" cy="14630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648456" y="316382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In-process inspection (LQC)</a:t>
            </a:r>
            <a:endParaRPr lang="en-US" sz="1000" dirty="0"/>
          </a:p>
        </p:txBody>
      </p:sp>
      <p:pic>
        <p:nvPicPr>
          <p:cNvPr id="10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511296"/>
            <a:ext cx="146304" cy="14630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3648456" y="349300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Final quality check (OQC)</a:t>
            </a:r>
            <a:endParaRPr lang="en-US" sz="1000" dirty="0"/>
          </a:p>
        </p:txBody>
      </p:sp>
      <p:pic>
        <p:nvPicPr>
          <p:cNvPr id="12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840480"/>
            <a:ext cx="146304" cy="14630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3648456" y="3822192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Reliability &amp; environmental testing</a:t>
            </a:r>
            <a:endParaRPr lang="en-US" sz="1000" dirty="0"/>
          </a:p>
        </p:txBody>
      </p:sp>
      <p:pic>
        <p:nvPicPr>
          <p:cNvPr id="14" name="Image 5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169664"/>
            <a:ext cx="146304" cy="146304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3648456" y="4151376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Traceability</a:t>
            </a: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548640" y="5440680"/>
            <a:ext cx="3118104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7" name="Shape 9"/>
          <p:cNvSpPr/>
          <p:nvPr/>
        </p:nvSpPr>
        <p:spPr>
          <a:xfrm>
            <a:off x="713232" y="55961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11111"/>
          </a:solidFill>
          <a:ln/>
        </p:spPr>
      </p:sp>
      <p:sp>
        <p:nvSpPr>
          <p:cNvPr id="18" name="Text 10"/>
          <p:cNvSpPr txBox="1"/>
          <p:nvPr/>
        </p:nvSpPr>
        <p:spPr>
          <a:xfrm>
            <a:off x="713232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ISO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1371600" y="559612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ISO 13485</a:t>
            </a:r>
            <a:endParaRPr lang="en-US" sz="1100" dirty="0"/>
          </a:p>
        </p:txBody>
      </p:sp>
      <p:sp>
        <p:nvSpPr>
          <p:cNvPr id="20" name="Text 12"/>
          <p:cNvSpPr txBox="1"/>
          <p:nvPr/>
        </p:nvSpPr>
        <p:spPr>
          <a:xfrm>
            <a:off x="1371600" y="585216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Quality management for medical devices</a:t>
            </a:r>
            <a:endParaRPr lang="en-US" sz="850" dirty="0"/>
          </a:p>
        </p:txBody>
      </p:sp>
      <p:sp>
        <p:nvSpPr>
          <p:cNvPr id="21" name="Shape 13"/>
          <p:cNvSpPr/>
          <p:nvPr/>
        </p:nvSpPr>
        <p:spPr>
          <a:xfrm>
            <a:off x="3895344" y="5440680"/>
            <a:ext cx="3118104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2" name="Shape 14"/>
          <p:cNvSpPr/>
          <p:nvPr/>
        </p:nvSpPr>
        <p:spPr>
          <a:xfrm>
            <a:off x="4059936" y="559612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11111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4059936" y="5596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10K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4718304" y="559612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Class 10K cleanroom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4718304" y="585216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Controlled manufacturing environment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548640" y="6400800"/>
            <a:ext cx="3118104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7" name="Shape 19"/>
          <p:cNvSpPr/>
          <p:nvPr/>
        </p:nvSpPr>
        <p:spPr>
          <a:xfrm>
            <a:off x="713232" y="65562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11111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713232" y="6556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CE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371600" y="655624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CE · FCC · PCI-DSS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1371600" y="68122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European, US &amp; payment-security standards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3895344" y="6400800"/>
            <a:ext cx="3118104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32" name="Shape 24"/>
          <p:cNvSpPr/>
          <p:nvPr/>
        </p:nvSpPr>
        <p:spPr>
          <a:xfrm>
            <a:off x="4059936" y="65562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11111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4059936" y="6556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IEC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718304" y="655624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IEC 60601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4718304" y="68122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Medical electrical equipment safety</a:t>
            </a:r>
            <a:endParaRPr lang="en-US" sz="850" dirty="0"/>
          </a:p>
        </p:txBody>
      </p:sp>
      <p:sp>
        <p:nvSpPr>
          <p:cNvPr id="36" name="Shape 28"/>
          <p:cNvSpPr/>
          <p:nvPr/>
        </p:nvSpPr>
        <p:spPr>
          <a:xfrm>
            <a:off x="548640" y="7360920"/>
            <a:ext cx="3118104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37" name="Shape 29"/>
          <p:cNvSpPr/>
          <p:nvPr/>
        </p:nvSpPr>
        <p:spPr>
          <a:xfrm>
            <a:off x="713232" y="75163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11111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713232" y="7516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BIS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1371600" y="751636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BIS certified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1371600" y="777240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Bureau of Indian Standards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3895344" y="7360920"/>
            <a:ext cx="3118104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2" name="Shape 34"/>
          <p:cNvSpPr/>
          <p:nvPr/>
        </p:nvSpPr>
        <p:spPr>
          <a:xfrm>
            <a:off x="4059936" y="75163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11111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4059936" y="7516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ISO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4718304" y="751636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ISO 9001</a:t>
            </a:r>
            <a:endParaRPr lang="en-US" sz="1100" dirty="0"/>
          </a:p>
        </p:txBody>
      </p:sp>
      <p:sp>
        <p:nvSpPr>
          <p:cNvPr id="45" name="Text 37"/>
          <p:cNvSpPr txBox="1"/>
          <p:nvPr/>
        </p:nvSpPr>
        <p:spPr>
          <a:xfrm>
            <a:off x="4718304" y="777240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Quality management systems</a:t>
            </a:r>
            <a:endParaRPr lang="en-US" sz="850" dirty="0"/>
          </a:p>
        </p:txBody>
      </p:sp>
      <p:sp>
        <p:nvSpPr>
          <p:cNvPr id="46" name="Text 38"/>
          <p:cNvSpPr txBox="1"/>
          <p:nvPr/>
        </p:nvSpPr>
        <p:spPr>
          <a:xfrm>
            <a:off x="548640" y="841248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Compliances: </a:t>
            </a:r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ISO 13485, ISO 80601-2-69, IEC 60601-1, IEC 60601-1-2 (NABL-accredited labs), CE, FCC, RoHS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lnut Technolog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111170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5"/>
                </a:solidFill>
              </a:rPr>
              <a:t>04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4028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Medical devices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CDSCO-approved Class B and Class C medical devices, designed and manufactured under ISO 13485 in a Class 10K cleanroom.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1140897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069080"/>
            <a:ext cx="11408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CDSCO approved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780977" y="4069080"/>
            <a:ext cx="818342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80977" y="4069080"/>
            <a:ext cx="8183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ISO 13485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90759" y="4069080"/>
            <a:ext cx="818342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90759" y="4069080"/>
            <a:ext cx="8183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IEC 60601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600541" y="4069080"/>
            <a:ext cx="1463451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00541" y="4069080"/>
            <a:ext cx="14634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Class 10K cleanroom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7562088" cy="58430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1" descr="Medical devic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57800"/>
            <a:ext cx="646480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04 · MEDICAL DEVICES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Digital Blood Pressure Monitor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Digital Blood Pressure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5916168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692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Clinical-grade precision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6464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Precision blood pressure monitoring device with advanced cuff technology and a digital display for accurate clinical readings. Memory storage for multiple readings and an easy-to-use interface. A gold-standard electronic BP monitor is in development with ICMR funding and clinical trials at AIIMS Nagpur, AIIMS Delhi and Chettinad Super Speciality Hospital.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26948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KEY FEATURES</a:t>
            </a:r>
            <a:endParaRPr lang="en-US" sz="800" dirty="0"/>
          </a:p>
        </p:txBody>
      </p:sp>
      <p:pic>
        <p:nvPicPr>
          <p:cNvPr id="9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580376"/>
            <a:ext cx="146304" cy="1463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8096" y="7562088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Clinical grade accuracy</a:t>
            </a:r>
            <a:endParaRPr lang="en-US" sz="950" dirty="0"/>
          </a:p>
        </p:txBody>
      </p:sp>
      <p:pic>
        <p:nvPicPr>
          <p:cNvPr id="11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044" y="7580376"/>
            <a:ext cx="146304" cy="1463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00500" y="7562088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Large digital display</a:t>
            </a:r>
            <a:endParaRPr lang="en-US" sz="950" dirty="0"/>
          </a:p>
        </p:txBody>
      </p:sp>
      <p:pic>
        <p:nvPicPr>
          <p:cNvPr id="13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7872984"/>
            <a:ext cx="146304" cy="14630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8096" y="785469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Memory storage</a:t>
            </a:r>
            <a:endParaRPr lang="en-US" sz="950" dirty="0"/>
          </a:p>
        </p:txBody>
      </p:sp>
      <p:pic>
        <p:nvPicPr>
          <p:cNvPr id="15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044" y="7872984"/>
            <a:ext cx="146304" cy="14630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000500" y="785469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NABL certified</a:t>
            </a:r>
            <a:endParaRPr lang="en-US" sz="950" dirty="0"/>
          </a:p>
        </p:txBody>
      </p:sp>
      <p:pic>
        <p:nvPicPr>
          <p:cNvPr id="17" name="Image 5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8165592"/>
            <a:ext cx="146304" cy="14630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68096" y="8147304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Systolic, diastolic &amp; pulse</a:t>
            </a:r>
            <a:endParaRPr lang="en-US" sz="950" dirty="0"/>
          </a:p>
        </p:txBody>
      </p:sp>
      <p:pic>
        <p:nvPicPr>
          <p:cNvPr id="19" name="Image 6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044" y="8165592"/>
            <a:ext cx="146304" cy="14630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4000500" y="8147304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Simple one-touch operation</a:t>
            </a:r>
            <a:endParaRPr lang="en-US" sz="950" dirty="0"/>
          </a:p>
        </p:txBody>
      </p:sp>
      <p:sp>
        <p:nvSpPr>
          <p:cNvPr id="21" name="Shape 12"/>
          <p:cNvSpPr/>
          <p:nvPr/>
        </p:nvSpPr>
        <p:spPr>
          <a:xfrm>
            <a:off x="548640" y="8622792"/>
            <a:ext cx="114089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Text 13"/>
          <p:cNvSpPr txBox="1"/>
          <p:nvPr/>
        </p:nvSpPr>
        <p:spPr>
          <a:xfrm>
            <a:off x="548640" y="8622792"/>
            <a:ext cx="11408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CDSCO approved</a:t>
            </a:r>
            <a:endParaRPr lang="en-US" sz="850" dirty="0"/>
          </a:p>
        </p:txBody>
      </p:sp>
      <p:sp>
        <p:nvSpPr>
          <p:cNvPr id="23" name="Shape 14"/>
          <p:cNvSpPr/>
          <p:nvPr/>
        </p:nvSpPr>
        <p:spPr>
          <a:xfrm>
            <a:off x="1780977" y="8622792"/>
            <a:ext cx="81834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1780977" y="8622792"/>
            <a:ext cx="8183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ISO 13485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04 · MEDICAL DEVICES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Respiratory &amp; diagnostics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IR Thermome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73352"/>
            <a:ext cx="2368296" cy="23682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66160" y="150876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IR Thermometer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8928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ThermoSure · non-contact temperature measurement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2240280"/>
            <a:ext cx="3447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Fast, hygienic temperature measurement with infrared technology. Ideal for clinical screening and home use — instant readings without physical contact.</a:t>
            </a:r>
            <a:endParaRPr lang="en-US" sz="950" dirty="0"/>
          </a:p>
        </p:txBody>
      </p:sp>
      <p:pic>
        <p:nvPicPr>
          <p:cNvPr id="9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93008"/>
            <a:ext cx="146304" cy="1463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785616" y="34747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Non-contact</a:t>
            </a:r>
            <a:endParaRPr lang="en-US" sz="900" dirty="0"/>
          </a:p>
        </p:txBody>
      </p:sp>
      <p:pic>
        <p:nvPicPr>
          <p:cNvPr id="11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749040"/>
            <a:ext cx="146304" cy="1463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785616" y="373075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Instant reading</a:t>
            </a:r>
            <a:endParaRPr lang="en-US" sz="900" dirty="0"/>
          </a:p>
        </p:txBody>
      </p:sp>
      <p:pic>
        <p:nvPicPr>
          <p:cNvPr id="13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005072"/>
            <a:ext cx="146304" cy="14630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785616" y="398678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Hygienic</a:t>
            </a:r>
            <a:endParaRPr lang="en-US" sz="900" dirty="0"/>
          </a:p>
        </p:txBody>
      </p:sp>
      <p:pic>
        <p:nvPicPr>
          <p:cNvPr id="15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4261104"/>
            <a:ext cx="146304" cy="14630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785616" y="424281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Battery operated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548640" y="562356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548640" y="5806440"/>
            <a:ext cx="2697480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19" name="Image 5" descr="Compressor Nebuliz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971032"/>
            <a:ext cx="2368296" cy="23682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566160" y="580644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Compressor Nebulizer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3566160" y="619048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Respiratory therapy</a:t>
            </a:r>
            <a:endParaRPr lang="en-US" sz="1050" dirty="0"/>
          </a:p>
        </p:txBody>
      </p:sp>
      <p:sp>
        <p:nvSpPr>
          <p:cNvPr id="22" name="Text 14"/>
          <p:cNvSpPr txBox="1"/>
          <p:nvPr/>
        </p:nvSpPr>
        <p:spPr>
          <a:xfrm>
            <a:off x="3566160" y="6537960"/>
            <a:ext cx="3447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Efficient compressor nebulizer for respiratory therapy. Compact design with reliable performance for clinical and home settings, delivering medication directly to the lungs.</a:t>
            </a:r>
            <a:endParaRPr lang="en-US" sz="950" dirty="0"/>
          </a:p>
        </p:txBody>
      </p:sp>
      <p:pic>
        <p:nvPicPr>
          <p:cNvPr id="23" name="Image 6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7790688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3785616" y="777240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Efficient nebulization</a:t>
            </a:r>
            <a:endParaRPr lang="en-US" sz="900" dirty="0"/>
          </a:p>
        </p:txBody>
      </p:sp>
      <p:pic>
        <p:nvPicPr>
          <p:cNvPr id="25" name="Image 7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8046720"/>
            <a:ext cx="146304" cy="146304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3785616" y="80284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Low noise</a:t>
            </a:r>
            <a:endParaRPr lang="en-US" sz="900" dirty="0"/>
          </a:p>
        </p:txBody>
      </p:sp>
      <p:pic>
        <p:nvPicPr>
          <p:cNvPr id="27" name="Image 8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6160" y="8302752"/>
            <a:ext cx="146304" cy="146304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3785616" y="828446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Compact design</a:t>
            </a:r>
            <a:endParaRPr lang="en-US" sz="900" dirty="0"/>
          </a:p>
        </p:txBody>
      </p:sp>
      <p:pic>
        <p:nvPicPr>
          <p:cNvPr id="29" name="Image 9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8558784"/>
            <a:ext cx="146304" cy="146304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3785616" y="854049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Medical grade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04 · MEDICAL DEVICES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Oxygen Concentrator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Oxygen Concentr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5916168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692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Reliable oxygen therapy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6464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Reliable oxygen concentrators available in 5 L and 10 L configurations with single and dual flow options, designed for clinical and homecare settings with low-noise operation.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269480"/>
            <a:ext cx="2017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 L / 10 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7699248"/>
            <a:ext cx="2017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Flow configurations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2703576" y="7269480"/>
            <a:ext cx="2017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Single / dual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703576" y="7699248"/>
            <a:ext cx="2017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Flow outputs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858512" y="7269480"/>
            <a:ext cx="2017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ISO 13485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858512" y="7699248"/>
            <a:ext cx="2017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Manufactured under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813816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KEY FEATURES</a:t>
            </a:r>
            <a:endParaRPr lang="en-US" sz="800" dirty="0"/>
          </a:p>
        </p:txBody>
      </p:sp>
      <p:pic>
        <p:nvPicPr>
          <p:cNvPr id="15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449056"/>
            <a:ext cx="146304" cy="1463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8096" y="8430768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5 L &amp; 10 L flow</a:t>
            </a:r>
            <a:endParaRPr lang="en-US" sz="950" dirty="0"/>
          </a:p>
        </p:txBody>
      </p:sp>
      <p:pic>
        <p:nvPicPr>
          <p:cNvPr id="17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044" y="844905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000500" y="8430768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Single or dual flow</a:t>
            </a:r>
            <a:endParaRPr lang="en-US" sz="950" dirty="0"/>
          </a:p>
        </p:txBody>
      </p:sp>
      <p:pic>
        <p:nvPicPr>
          <p:cNvPr id="19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8741664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68096" y="872337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Low-noise operation</a:t>
            </a:r>
            <a:endParaRPr lang="en-US" sz="950" dirty="0"/>
          </a:p>
        </p:txBody>
      </p:sp>
      <p:pic>
        <p:nvPicPr>
          <p:cNvPr id="21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044" y="8741664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000500" y="872337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Clinical &amp; homecare use</a:t>
            </a:r>
            <a:endParaRPr lang="en-US" sz="950" dirty="0"/>
          </a:p>
        </p:txBody>
      </p:sp>
      <p:pic>
        <p:nvPicPr>
          <p:cNvPr id="23" name="Image 5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9034272"/>
            <a:ext cx="146304" cy="14630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68096" y="9015984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ISO 80601-2-69 compliance</a:t>
            </a:r>
            <a:endParaRPr lang="en-US" sz="950" dirty="0"/>
          </a:p>
        </p:txBody>
      </p:sp>
      <p:pic>
        <p:nvPicPr>
          <p:cNvPr id="25" name="Image 6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044" y="9034272"/>
            <a:ext cx="146304" cy="14630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000500" y="9015984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Made in a Class 10K cleanroom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lnut Technolog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111170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5"/>
                </a:solidFill>
              </a:rPr>
              <a:t>05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4028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Neuro-rehabilitation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Rehabilitation robotics and neuro-stimulation for stroke, traumatic brain injury, spinal cord injury and neurological conditions — with AI-assisted therapy and real-time monitoring.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1463451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069080"/>
            <a:ext cx="14634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AI-assisted therapy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103531" y="4069080"/>
            <a:ext cx="1269919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03531" y="4069080"/>
            <a:ext cx="1269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Tele-rehab ready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464890" y="4069080"/>
            <a:ext cx="1527962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64890" y="4069080"/>
            <a:ext cx="1527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Real-time monitoring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0" y="4846320"/>
            <a:ext cx="7562088" cy="58430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1" descr="Neuro-rehabili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57800"/>
            <a:ext cx="646480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05 · NEURO-REHABILITATION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WalkLab Gait Training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WalkLab Gait Training Syst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5916168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692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Flagship · lower-limb gait training system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6464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A high-level gait training platform that improves gait outcomes, accelerates recovery and reduces cost of care through intensive, repetitive retraining of normal movement. Sensors track lower-limb kinematics and muscle activation to guide each step with the correct timing and force, with instant audio and visual feedback — for stroke, TBI, spinal cord injury, cerebral palsy, MS, Parkinson's and orthopedic conditions.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269480"/>
            <a:ext cx="2017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150 kg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7699248"/>
            <a:ext cx="2017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Max patient weight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2703576" y="7269480"/>
            <a:ext cx="2017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1.8–4 km/h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703576" y="7699248"/>
            <a:ext cx="2017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Treadmill speed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858512" y="7269480"/>
            <a:ext cx="2017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&lt;10 min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858512" y="7699248"/>
            <a:ext cx="2017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Therapist setup time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813816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KEY FEATURES</a:t>
            </a:r>
            <a:endParaRPr lang="en-US" sz="800" dirty="0"/>
          </a:p>
        </p:txBody>
      </p:sp>
      <p:pic>
        <p:nvPicPr>
          <p:cNvPr id="15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449056"/>
            <a:ext cx="146304" cy="1463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8096" y="8430768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Neural gait retraining</a:t>
            </a:r>
            <a:endParaRPr lang="en-US" sz="950" dirty="0"/>
          </a:p>
        </p:txBody>
      </p:sp>
      <p:pic>
        <p:nvPicPr>
          <p:cNvPr id="17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044" y="8449056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000500" y="8430768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VR multitask training</a:t>
            </a:r>
            <a:endParaRPr lang="en-US" sz="950" dirty="0"/>
          </a:p>
        </p:txBody>
      </p:sp>
      <p:pic>
        <p:nvPicPr>
          <p:cNvPr id="19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8741664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68096" y="872337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Real-time audio &amp; visual feedback</a:t>
            </a:r>
            <a:endParaRPr lang="en-US" sz="950" dirty="0"/>
          </a:p>
        </p:txBody>
      </p:sp>
      <p:pic>
        <p:nvPicPr>
          <p:cNvPr id="21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044" y="8741664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000500" y="872337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Objective progress per session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05 · NEURO-REHABILITATION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Early rehabilitation &amp; neuromodulation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Weeb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73352"/>
            <a:ext cx="2368296" cy="23682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566160" y="150876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Weebo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8928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Early rehabilitation robot with FES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2240280"/>
            <a:ext cx="3447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A motorised tilt table with an integrated leg-stepping mechanism. The table rises gradually toward vertical while the legs move in an alternating stepping pattern, maintaining venous return so verticalization can start earlier and be tolerated longer.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3474720"/>
            <a:ext cx="1011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0–90°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3904488"/>
            <a:ext cx="101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Tilt range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4715256" y="3474720"/>
            <a:ext cx="1011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45°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715256" y="3904488"/>
            <a:ext cx="101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Leg stroke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5864352" y="3474720"/>
            <a:ext cx="1011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20–39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864352" y="3904488"/>
            <a:ext cx="101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Steps / min</a:t>
            </a:r>
            <a:endParaRPr lang="en-US" sz="850" dirty="0"/>
          </a:p>
        </p:txBody>
      </p:sp>
      <p:pic>
        <p:nvPicPr>
          <p:cNvPr id="15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61688"/>
            <a:ext cx="146304" cy="14630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785616" y="434340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Progressive verticalization</a:t>
            </a:r>
            <a:endParaRPr lang="en-US" sz="900" dirty="0"/>
          </a:p>
        </p:txBody>
      </p:sp>
      <p:pic>
        <p:nvPicPr>
          <p:cNvPr id="17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617720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785616" y="45994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Alternating stepping motion</a:t>
            </a:r>
            <a:endParaRPr lang="en-US" sz="900" dirty="0"/>
          </a:p>
        </p:txBody>
      </p:sp>
      <p:pic>
        <p:nvPicPr>
          <p:cNvPr id="19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4873752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785616" y="485546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Maintains venous return</a:t>
            </a:r>
            <a:endParaRPr lang="en-US" sz="900" dirty="0"/>
          </a:p>
        </p:txBody>
      </p:sp>
      <p:pic>
        <p:nvPicPr>
          <p:cNvPr id="21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5129784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785616" y="511149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Prevents bed-rest complications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548640" y="5623560"/>
            <a:ext cx="6464808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48640" y="5806440"/>
            <a:ext cx="2697480" cy="2697480"/>
          </a:xfrm>
          <a:prstGeom prst="roundRect">
            <a:avLst>
              <a:gd name="adj" fmla="val 2712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25" name="Image 5" descr="CES — Repo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971032"/>
            <a:ext cx="2368296" cy="236829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566160" y="580644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CES — Repose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3566160" y="619048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Mobile cranial electrotherapy stimulator</a:t>
            </a:r>
            <a:endParaRPr lang="en-US" sz="1050" dirty="0"/>
          </a:p>
        </p:txBody>
      </p:sp>
      <p:sp>
        <p:nvSpPr>
          <p:cNvPr id="28" name="Text 20"/>
          <p:cNvSpPr txBox="1"/>
          <p:nvPr/>
        </p:nvSpPr>
        <p:spPr>
          <a:xfrm>
            <a:off x="3566160" y="6537960"/>
            <a:ext cx="3447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chemeClr val="tx2"/>
                </a:solidFill>
              </a:rPr>
              <a:t>Portable cranial electrotherapy stimulation device from the Walnut Medical neuro-modulation range. Also available in the range: Functional Electrical Stimulation (FES), rTMS and RMNS (right median nerve stimulation).</a:t>
            </a:r>
            <a:endParaRPr lang="en-US" sz="950" dirty="0"/>
          </a:p>
        </p:txBody>
      </p:sp>
      <p:pic>
        <p:nvPicPr>
          <p:cNvPr id="29" name="Image 6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7790688"/>
            <a:ext cx="146304" cy="14630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785616" y="777240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Portable, mobile unit</a:t>
            </a:r>
            <a:endParaRPr lang="en-US" sz="900" dirty="0"/>
          </a:p>
        </p:txBody>
      </p:sp>
      <p:pic>
        <p:nvPicPr>
          <p:cNvPr id="31" name="Image 7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8046720"/>
            <a:ext cx="146304" cy="14630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3785616" y="802843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Multiple programmes &amp; intensity levels</a:t>
            </a:r>
            <a:endParaRPr lang="en-US" sz="900" dirty="0"/>
          </a:p>
        </p:txBody>
      </p:sp>
      <p:pic>
        <p:nvPicPr>
          <p:cNvPr id="33" name="Image 8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6160" y="8302752"/>
            <a:ext cx="146304" cy="146304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3785616" y="8284464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Clear control panel</a:t>
            </a:r>
            <a:endParaRPr lang="en-US" sz="900" dirty="0"/>
          </a:p>
        </p:txBody>
      </p:sp>
      <p:pic>
        <p:nvPicPr>
          <p:cNvPr id="35" name="Image 9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8558784"/>
            <a:ext cx="146304" cy="146304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3785616" y="8540496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Part of the neuromodulation range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lnut Technolog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111170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5"/>
                </a:solidFill>
              </a:rPr>
              <a:t>06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4028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Fintech &amp; payment devices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BIS-approved smart payment soundboxes with multi-language audio confirmation, secure integrations and a complete software ecosystem — in mass production since 2023.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1011875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069080"/>
            <a:ext cx="101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BIS approved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51955" y="4069080"/>
            <a:ext cx="689320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51955" y="4069080"/>
            <a:ext cx="6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PCI-DSS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32715" y="4069080"/>
            <a:ext cx="1140897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32715" y="4069080"/>
            <a:ext cx="11408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NPCI compliant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665052" y="4069080"/>
            <a:ext cx="818342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65052" y="4069080"/>
            <a:ext cx="8183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EMV L1/L2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7562088" cy="58430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1" descr="Fintech &amp; payment devic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57800"/>
            <a:ext cx="646480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06 · FINTECH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Soundbox hardware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Soundbox r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6099048" cy="1828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84048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PLATFORM SPECIFICATIONS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42232"/>
          <a:ext cx="6464808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72744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Types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Tabletop, pocket, DQR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Connectivity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LTE CAT 1 — 4G, 3G, 2G, Bluetooth, Wi-Fi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Battery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Rechargeable, up to 6000 mAh — lasts about 1 month per charge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Internal memory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4 MB to 256 MB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Audio output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2–5 W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SIM card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Nano / Micro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POS integration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API for POS integration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Add-on features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LCD with backlight, BT, Wi-Fi, FM, solar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Protection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Level 4 ESD protection, pin-hole reset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Power efficiency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tx1"/>
                          </a:solidFill>
                        </a:rPr>
                        <a:t>PCB consumes 4 mA (vs 20–35 mA typical)</a:t>
                      </a:r>
                      <a:endParaRPr lang="en-US" sz="95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768096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SOFTWARE &amp; SERVICES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548640" y="800100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0" name="Image 1" descr="C:\Users\Abcom\Documents\Walnut\catalog\source\assets\icons\FiPackage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20" y="8089880"/>
            <a:ext cx="151425" cy="15142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05840" y="800100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Finished hardware in your branding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3895344" y="800100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3" name="Image 2" descr="C:\Users\Abcom\Documents\Walnut\catalog\source\assets\icons\FiServer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224" y="8089880"/>
            <a:ext cx="151425" cy="15142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352544" y="800100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MQTT broker — low-latency announcements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548640" y="850392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6" name="Image 3" descr="C:\Users\Abcom\Documents\Walnut\catalog\source\assets\icons\FiGrid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20" y="8592800"/>
            <a:ext cx="151425" cy="15142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05840" y="850392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Terminal management system &amp; OTA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3895344" y="850392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9" name="Image 4" descr="C:\Users\Abcom\Documents\Walnut\catalog\source\assets\icons\FiRadio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4224" y="8592800"/>
            <a:ext cx="151425" cy="15142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352544" y="850392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SIM connectivity partners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548640" y="900684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2" name="Image 5" descr="C:\Users\Abcom\Documents\Walnut\catalog\source\assets\icons\FiSmartphone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20" y="9095720"/>
            <a:ext cx="151425" cy="15142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05840" y="90068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Field deployment app (Android &amp; iOS)</a:t>
            </a:r>
            <a:endParaRPr lang="en-US" sz="950" dirty="0"/>
          </a:p>
        </p:txBody>
      </p:sp>
      <p:sp>
        <p:nvSpPr>
          <p:cNvPr id="24" name="Shape 15"/>
          <p:cNvSpPr/>
          <p:nvPr/>
        </p:nvSpPr>
        <p:spPr>
          <a:xfrm>
            <a:off x="3895344" y="900684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5" name="Image 6" descr="C:\Users\Abcom\Documents\Walnut\catalog\source\assets\icons\FiTrendingUp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4224" y="9095720"/>
            <a:ext cx="151425" cy="15142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352544" y="900684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500K+ units / month capacity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06 · FINTECH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Soundbox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118104" cy="4160520"/>
          </a:xfrm>
          <a:prstGeom prst="roundRect">
            <a:avLst>
              <a:gd name="adj" fmla="val 234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RTOS — All-in-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2660904" cy="1691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52044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RTOS — All-in-one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84048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Multiple display options to suit every merchant.</a:t>
            </a:r>
            <a:endParaRPr lang="en-US" sz="900" dirty="0"/>
          </a:p>
        </p:txBody>
      </p:sp>
      <p:pic>
        <p:nvPicPr>
          <p:cNvPr id="8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379976"/>
            <a:ext cx="146304" cy="1463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96696" y="436168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3.47″ or 2.8″ LCD, or segment display</a:t>
            </a:r>
            <a:endParaRPr lang="en-US" sz="900" dirty="0"/>
          </a:p>
        </p:txBody>
      </p:sp>
      <p:pic>
        <p:nvPicPr>
          <p:cNvPr id="10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681728"/>
            <a:ext cx="146304" cy="146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96696" y="466344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2.4″ merchant display</a:t>
            </a:r>
            <a:endParaRPr lang="en-US" sz="900" dirty="0"/>
          </a:p>
        </p:txBody>
      </p:sp>
      <p:pic>
        <p:nvPicPr>
          <p:cNvPr id="12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83480"/>
            <a:ext cx="146304" cy="14630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96696" y="4965192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On-device QR generation</a:t>
            </a:r>
            <a:endParaRPr lang="en-US" sz="900" dirty="0"/>
          </a:p>
        </p:txBody>
      </p:sp>
      <p:pic>
        <p:nvPicPr>
          <p:cNvPr id="14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85232"/>
            <a:ext cx="146304" cy="14630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996696" y="5266944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Built-in keyboard</a:t>
            </a:r>
            <a:endParaRPr lang="en-US" sz="900" dirty="0"/>
          </a:p>
        </p:txBody>
      </p:sp>
      <p:sp>
        <p:nvSpPr>
          <p:cNvPr id="16" name="Shape 9"/>
          <p:cNvSpPr/>
          <p:nvPr/>
        </p:nvSpPr>
        <p:spPr>
          <a:xfrm>
            <a:off x="3895344" y="1508760"/>
            <a:ext cx="3118104" cy="4160520"/>
          </a:xfrm>
          <a:prstGeom prst="roundRect">
            <a:avLst>
              <a:gd name="adj" fmla="val 234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17" name="Image 5" descr="DQR — Digital Q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944" y="1691640"/>
            <a:ext cx="2660904" cy="169164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123944" y="352044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DQR — Digital QR</a:t>
            </a:r>
            <a:endParaRPr lang="en-US" sz="1250" dirty="0"/>
          </a:p>
        </p:txBody>
      </p:sp>
      <p:sp>
        <p:nvSpPr>
          <p:cNvPr id="19" name="Text 11"/>
          <p:cNvSpPr txBox="1"/>
          <p:nvPr/>
        </p:nvSpPr>
        <p:spPr>
          <a:xfrm>
            <a:off x="4123944" y="384048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Compact digital-QR soundbox with a high-contrast LCD.</a:t>
            </a:r>
            <a:endParaRPr lang="en-US" sz="900" dirty="0"/>
          </a:p>
        </p:txBody>
      </p:sp>
      <p:pic>
        <p:nvPicPr>
          <p:cNvPr id="20" name="Image 6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3944" y="4379976"/>
            <a:ext cx="146304" cy="14630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4343400" y="436168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Digital QR display</a:t>
            </a:r>
            <a:endParaRPr lang="en-US" sz="900" dirty="0"/>
          </a:p>
        </p:txBody>
      </p:sp>
      <p:pic>
        <p:nvPicPr>
          <p:cNvPr id="22" name="Image 7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3944" y="4681728"/>
            <a:ext cx="146304" cy="146304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343400" y="466344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Bright LCD for amount &amp; confirmation</a:t>
            </a:r>
            <a:endParaRPr lang="en-US" sz="900" dirty="0"/>
          </a:p>
        </p:txBody>
      </p:sp>
      <p:pic>
        <p:nvPicPr>
          <p:cNvPr id="24" name="Image 8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3944" y="4983480"/>
            <a:ext cx="146304" cy="146304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4343400" y="4965192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Loud, clear audio</a:t>
            </a:r>
            <a:endParaRPr lang="en-US" sz="900" dirty="0"/>
          </a:p>
        </p:txBody>
      </p:sp>
      <p:pic>
        <p:nvPicPr>
          <p:cNvPr id="26" name="Image 9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3944" y="5285232"/>
            <a:ext cx="146304" cy="146304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4343400" y="5266944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Plug-and-play deployment</a:t>
            </a:r>
            <a:endParaRPr lang="en-US" sz="900" dirty="0"/>
          </a:p>
        </p:txBody>
      </p:sp>
      <p:sp>
        <p:nvSpPr>
          <p:cNvPr id="28" name="Shape 16"/>
          <p:cNvSpPr/>
          <p:nvPr/>
        </p:nvSpPr>
        <p:spPr>
          <a:xfrm>
            <a:off x="548640" y="5852160"/>
            <a:ext cx="3118104" cy="4160520"/>
          </a:xfrm>
          <a:prstGeom prst="roundRect">
            <a:avLst>
              <a:gd name="adj" fmla="val 234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29" name="Image 10" descr="LDQR — Large display Q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6035040"/>
            <a:ext cx="2660904" cy="169164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777240" y="786384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LDQR — Large display QR</a:t>
            </a:r>
            <a:endParaRPr lang="en-US" sz="1250" dirty="0"/>
          </a:p>
        </p:txBody>
      </p:sp>
      <p:sp>
        <p:nvSpPr>
          <p:cNvPr id="31" name="Text 18"/>
          <p:cNvSpPr txBox="1"/>
          <p:nvPr/>
        </p:nvSpPr>
        <p:spPr>
          <a:xfrm>
            <a:off x="777240" y="818388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Premium soundbox with a large touchscreen customer display.</a:t>
            </a:r>
            <a:endParaRPr lang="en-US" sz="900" dirty="0"/>
          </a:p>
        </p:txBody>
      </p:sp>
      <p:pic>
        <p:nvPicPr>
          <p:cNvPr id="32" name="Image 1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" y="8723376"/>
            <a:ext cx="146304" cy="146304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996696" y="870508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10″ touchscreen</a:t>
            </a:r>
            <a:endParaRPr lang="en-US" sz="900" dirty="0"/>
          </a:p>
        </p:txBody>
      </p:sp>
      <p:pic>
        <p:nvPicPr>
          <p:cNvPr id="34" name="Image 1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9025128"/>
            <a:ext cx="146304" cy="146304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996696" y="900684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2.4″ merchant display</a:t>
            </a:r>
            <a:endParaRPr lang="en-US" sz="900" dirty="0"/>
          </a:p>
        </p:txBody>
      </p:sp>
      <p:pic>
        <p:nvPicPr>
          <p:cNvPr id="36" name="Image 1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9326880"/>
            <a:ext cx="146304" cy="146304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996696" y="9308592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Keyboard &amp; custom QR</a:t>
            </a:r>
            <a:endParaRPr lang="en-US" sz="900" dirty="0"/>
          </a:p>
        </p:txBody>
      </p:sp>
      <p:pic>
        <p:nvPicPr>
          <p:cNvPr id="38" name="Image 1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9628632"/>
            <a:ext cx="146304" cy="146304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996696" y="9610344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NFC tap-and-pay</a:t>
            </a:r>
            <a:endParaRPr lang="en-US" sz="900" dirty="0"/>
          </a:p>
        </p:txBody>
      </p:sp>
      <p:sp>
        <p:nvSpPr>
          <p:cNvPr id="40" name="Shape 23"/>
          <p:cNvSpPr/>
          <p:nvPr/>
        </p:nvSpPr>
        <p:spPr>
          <a:xfrm>
            <a:off x="3895344" y="5852160"/>
            <a:ext cx="3118104" cy="4160520"/>
          </a:xfrm>
          <a:prstGeom prst="roundRect">
            <a:avLst>
              <a:gd name="adj" fmla="val 234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41" name="Image 15" descr="Payment soundbox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23944" y="6035040"/>
            <a:ext cx="2660904" cy="1691640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4123944" y="786384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Payment soundbox</a:t>
            </a:r>
            <a:endParaRPr lang="en-US" sz="1250" dirty="0"/>
          </a:p>
        </p:txBody>
      </p:sp>
      <p:sp>
        <p:nvSpPr>
          <p:cNvPr id="43" name="Text 25"/>
          <p:cNvSpPr txBox="1"/>
          <p:nvPr/>
        </p:nvSpPr>
        <p:spPr>
          <a:xfrm>
            <a:off x="4123944" y="818388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Smart payment speaker for every counter.</a:t>
            </a:r>
            <a:endParaRPr lang="en-US" sz="900" dirty="0"/>
          </a:p>
        </p:txBody>
      </p:sp>
      <p:pic>
        <p:nvPicPr>
          <p:cNvPr id="44" name="Image 16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23944" y="8723376"/>
            <a:ext cx="146304" cy="146304"/>
          </a:xfrm>
          <a:prstGeom prst="rect">
            <a:avLst/>
          </a:prstGeom>
        </p:spPr>
      </p:pic>
      <p:sp>
        <p:nvSpPr>
          <p:cNvPr id="45" name="Text 26"/>
          <p:cNvSpPr txBox="1"/>
          <p:nvPr/>
        </p:nvSpPr>
        <p:spPr>
          <a:xfrm>
            <a:off x="4343400" y="8705088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4G / 2G, NB-IoT</a:t>
            </a:r>
            <a:endParaRPr lang="en-US" sz="900" dirty="0"/>
          </a:p>
        </p:txBody>
      </p:sp>
      <p:pic>
        <p:nvPicPr>
          <p:cNvPr id="46" name="Image 17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23944" y="9025128"/>
            <a:ext cx="146304" cy="146304"/>
          </a:xfrm>
          <a:prstGeom prst="rect">
            <a:avLst/>
          </a:prstGeom>
        </p:spPr>
      </p:pic>
      <p:sp>
        <p:nvSpPr>
          <p:cNvPr id="47" name="Text 27"/>
          <p:cNvSpPr txBox="1"/>
          <p:nvPr/>
        </p:nvSpPr>
        <p:spPr>
          <a:xfrm>
            <a:off x="4343400" y="9006840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Bluetooth &amp; Wi-Fi</a:t>
            </a:r>
            <a:endParaRPr lang="en-US" sz="900" dirty="0"/>
          </a:p>
        </p:txBody>
      </p:sp>
      <p:pic>
        <p:nvPicPr>
          <p:cNvPr id="48" name="Image 18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23944" y="9326880"/>
            <a:ext cx="146304" cy="146304"/>
          </a:xfrm>
          <a:prstGeom prst="rect">
            <a:avLst/>
          </a:prstGeom>
        </p:spPr>
      </p:pic>
      <p:sp>
        <p:nvSpPr>
          <p:cNvPr id="49" name="Text 28"/>
          <p:cNvSpPr txBox="1"/>
          <p:nvPr/>
        </p:nvSpPr>
        <p:spPr>
          <a:xfrm>
            <a:off x="4343400" y="9308592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Multi-language audio</a:t>
            </a:r>
            <a:endParaRPr lang="en-US" sz="900" dirty="0"/>
          </a:p>
        </p:txBody>
      </p:sp>
      <p:pic>
        <p:nvPicPr>
          <p:cNvPr id="50" name="Image 19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23944" y="9628632"/>
            <a:ext cx="146304" cy="146304"/>
          </a:xfrm>
          <a:prstGeom prst="rect">
            <a:avLst/>
          </a:prstGeom>
        </p:spPr>
      </p:pic>
      <p:sp>
        <p:nvSpPr>
          <p:cNvPr id="51" name="Text 29"/>
          <p:cNvSpPr txBox="1"/>
          <p:nvPr/>
        </p:nvSpPr>
        <p:spPr>
          <a:xfrm>
            <a:off x="4343400" y="9610344"/>
            <a:ext cx="2386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Long battery life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lnut Technolog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111170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5"/>
                </a:solidFill>
              </a:rPr>
              <a:t>07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4028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Automotive electronics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Smart instrument clusters in 5-inch and 7-inch, Android and RTOS based, with 4G, Bluetooth and Wi-Fi — and Google Maps navigation through phone screen mirroring.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689320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069080"/>
            <a:ext cx="6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5″ &amp; 7″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329400" y="4069080"/>
            <a:ext cx="1140897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9400" y="4069080"/>
            <a:ext cx="11408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Android · RTOS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1737" y="4069080"/>
            <a:ext cx="1205408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61737" y="4069080"/>
            <a:ext cx="1205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4G · BT · Wi-Fi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858585" y="4069080"/>
            <a:ext cx="1205408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58585" y="4069080"/>
            <a:ext cx="1205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Phone mirroring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7562088" cy="58430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1" descr="Automotive electroni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57800"/>
            <a:ext cx="646480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07 · AUTOMOTIVE ELECTRONICS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Smart Instrument Cluster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Smart Instrument Clu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5916168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692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Digital clusters for 2-wheelers, tractors &amp; farm equipment, LMV &amp; HMV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6464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Next-generation digital clusters with high-resolution displays, real-time vehicle data and customisable driver interfaces — built for durability and clarity. Real-time processing of speed, RPM, fuel, temperature and diagnostics, with CAN bus support.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26948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KEY FEATURES</a:t>
            </a:r>
            <a:endParaRPr lang="en-US" sz="800" dirty="0"/>
          </a:p>
        </p:txBody>
      </p:sp>
      <p:pic>
        <p:nvPicPr>
          <p:cNvPr id="9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580376"/>
            <a:ext cx="146304" cy="1463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8096" y="7562088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High-resolution LCD/TFT, sunlight readable</a:t>
            </a:r>
            <a:endParaRPr lang="en-US" sz="950" dirty="0"/>
          </a:p>
        </p:txBody>
      </p:sp>
      <p:pic>
        <p:nvPicPr>
          <p:cNvPr id="11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044" y="7580376"/>
            <a:ext cx="146304" cy="1463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00500" y="7562088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Advanced real-time processing</a:t>
            </a:r>
            <a:endParaRPr lang="en-US" sz="950" dirty="0"/>
          </a:p>
        </p:txBody>
      </p:sp>
      <p:pic>
        <p:nvPicPr>
          <p:cNvPr id="13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7872984"/>
            <a:ext cx="146304" cy="14630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8096" y="785469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Low power consumption</a:t>
            </a:r>
            <a:endParaRPr lang="en-US" sz="950" dirty="0"/>
          </a:p>
        </p:txBody>
      </p:sp>
      <p:pic>
        <p:nvPicPr>
          <p:cNvPr id="15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044" y="7872984"/>
            <a:ext cx="146304" cy="14630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000500" y="785469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Rugged, industrial-grade build</a:t>
            </a:r>
            <a:endParaRPr lang="en-US" sz="950" dirty="0"/>
          </a:p>
        </p:txBody>
      </p:sp>
      <p:pic>
        <p:nvPicPr>
          <p:cNvPr id="17" name="Image 5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8165592"/>
            <a:ext cx="146304" cy="14630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68096" y="8147304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Customisable layouts &amp; themes</a:t>
            </a:r>
            <a:endParaRPr lang="en-US" sz="950" dirty="0"/>
          </a:p>
        </p:txBody>
      </p:sp>
      <p:pic>
        <p:nvPicPr>
          <p:cNvPr id="19" name="Image 6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044" y="8165592"/>
            <a:ext cx="146304" cy="14630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4000500" y="8147304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Operates from −40 °C to +85 °C</a:t>
            </a:r>
            <a:endParaRPr lang="en-US" sz="950" dirty="0"/>
          </a:p>
        </p:txBody>
      </p:sp>
      <p:sp>
        <p:nvSpPr>
          <p:cNvPr id="21" name="Shape 12"/>
          <p:cNvSpPr/>
          <p:nvPr/>
        </p:nvSpPr>
        <p:spPr>
          <a:xfrm>
            <a:off x="548640" y="8622792"/>
            <a:ext cx="126991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Text 13"/>
          <p:cNvSpPr txBox="1"/>
          <p:nvPr/>
        </p:nvSpPr>
        <p:spPr>
          <a:xfrm>
            <a:off x="548640" y="8622792"/>
            <a:ext cx="1269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IATF 16949 ready</a:t>
            </a:r>
            <a:endParaRPr lang="en-US" sz="850" dirty="0"/>
          </a:p>
        </p:txBody>
      </p:sp>
      <p:sp>
        <p:nvSpPr>
          <p:cNvPr id="23" name="Shape 14"/>
          <p:cNvSpPr/>
          <p:nvPr/>
        </p:nvSpPr>
        <p:spPr>
          <a:xfrm>
            <a:off x="1909999" y="8622792"/>
            <a:ext cx="753831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1909999" y="8622792"/>
            <a:ext cx="7538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AEC-Q100</a:t>
            </a: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2755270" y="8622792"/>
            <a:ext cx="88285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2755270" y="8622792"/>
            <a:ext cx="8828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EMC tested</a:t>
            </a:r>
            <a:endParaRPr lang="en-US" sz="850" dirty="0"/>
          </a:p>
        </p:txBody>
      </p:sp>
      <p:sp>
        <p:nvSpPr>
          <p:cNvPr id="27" name="Shape 18"/>
          <p:cNvSpPr/>
          <p:nvPr/>
        </p:nvSpPr>
        <p:spPr>
          <a:xfrm>
            <a:off x="3729563" y="8622792"/>
            <a:ext cx="126991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3729563" y="8622792"/>
            <a:ext cx="1269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Vibration tested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07 · AUTOMOTIVE ELECTRONICS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Choose your size: 5-inch or 7-inch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118104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pic>
        <p:nvPicPr>
          <p:cNvPr id="5" name="Image 0" descr="5″ clu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978" y="2263667"/>
            <a:ext cx="1959429" cy="14853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886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5″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395020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5-inch display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4206240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Smart instrument cluster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95344" y="1508760"/>
            <a:ext cx="3118104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</p:sp>
      <p:pic>
        <p:nvPicPr>
          <p:cNvPr id="10" name="Image 1" descr="7″ clu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796" y="1669517"/>
            <a:ext cx="2743200" cy="207952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23944" y="3886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7″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4992624" y="395020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7-inch display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4992624" y="4206240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Smart instrument cluster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599432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Clusters shown at relative scale.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3776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CONFIGURATION OPTIONS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239512"/>
          <a:ext cx="6464808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72744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Display size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5-inch  ·  7-inch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Platform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RTOS  ·  Android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Connectivity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4G  ·  Bluetooth  ·  Wi-Fi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Navigation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Phone screen mirroring — Google Maps on the cluster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Interface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Custom layouts, themes and brand integration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Vehicle data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Real-time speed, RPM, fuel, temperature, diagnostics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Vehicle bus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CAN bus support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548640" y="80924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Final specifications and combinations are confirmed per project; datasheets on request.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07 · AUTOMOTIVE ELECTRONICS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Google Maps on the cluster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Phone screen mirroring brings turn-by-turn Google Maps navigation from the rider's phone onto the cluster display — directions stay in the line of sight, alongside speed and vehicle data.</a:t>
            </a:r>
            <a:endParaRPr lang="en-US" sz="1100" dirty="0"/>
          </a:p>
        </p:txBody>
      </p:sp>
      <p:pic>
        <p:nvPicPr>
          <p:cNvPr id="5" name="Image 0" descr="Phone with Google Maps navig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146009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11650" y="3749040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7" name="Image 1" descr="C:\Users\Abcom\Documents\Walnut\catalog\source\assets\icons\FiCas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783" y="3897173"/>
            <a:ext cx="252374" cy="252374"/>
          </a:xfrm>
          <a:prstGeom prst="rect">
            <a:avLst/>
          </a:prstGeom>
        </p:spPr>
      </p:pic>
      <p:pic>
        <p:nvPicPr>
          <p:cNvPr id="8" name="Image 2" descr="Cluster showing mirrored navig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890" y="2651760"/>
            <a:ext cx="3541678" cy="28346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589788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0" name="Image 3" descr="C:\Users\Abcom\Documents\Walnut\catalog\source\assets\icons\FiNavigation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6001573"/>
            <a:ext cx="176662" cy="17666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97280" y="5879592"/>
            <a:ext cx="5870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Turn-by-turn on the dash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1097280" y="6153912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Google Maps navigation from the rider's phone appears on the cluster screen.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548640" y="672084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4" name="Image 4" descr="C:\Users\Abcom\Documents\Walnut\catalog\source\assets\icons\FiEye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" y="6824533"/>
            <a:ext cx="176662" cy="17666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97280" y="6702552"/>
            <a:ext cx="5870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Eyes stay on the road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1097280" y="6976872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Directions sit in the driver's line of sight — no phone on the handlebar or dashboard.</a:t>
            </a:r>
            <a:endParaRPr lang="en-US" sz="950" dirty="0"/>
          </a:p>
        </p:txBody>
      </p:sp>
      <p:sp>
        <p:nvSpPr>
          <p:cNvPr id="17" name="Shape 10"/>
          <p:cNvSpPr/>
          <p:nvPr/>
        </p:nvSpPr>
        <p:spPr>
          <a:xfrm>
            <a:off x="548640" y="754380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8" name="Image 5" descr="C:\Users\Abcom\Documents\Walnut\catalog\source\assets\icons\FiSmartphone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3" y="7647493"/>
            <a:ext cx="176662" cy="17666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097280" y="7525512"/>
            <a:ext cx="5870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Works with your phone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1097280" y="7799832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Pair over the cluster's wireless connectivity and start navigating.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548640" y="836676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2" name="Image 6" descr="C:\Users\Abcom\Documents\Walnut\catalog\source\assets\icons\FiMonitor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33" y="8470453"/>
            <a:ext cx="176662" cy="17666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097280" y="8348472"/>
            <a:ext cx="5870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One screen for everything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1097280" y="8622792"/>
            <a:ext cx="587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Navigation, speed and vehicle data together on the cluster display.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07 · AUTOMOTIVE ELECTRONICS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Agri &amp; off-highway electronics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265176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Smart clu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5916168" cy="2194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8912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chemeClr val="tx2"/>
                </a:solidFill>
              </a:rPr>
              <a:t>Automatic tractor electronics suite: a complete suite of smart, IoT-enabled electronics for agricultural equipment, earth-moving equipment and tractors.</a:t>
            </a:r>
            <a:endParaRPr lang="en-US" sz="1100" dirty="0"/>
          </a:p>
        </p:txBody>
      </p:sp>
      <p:pic>
        <p:nvPicPr>
          <p:cNvPr id="7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38928"/>
            <a:ext cx="146304" cy="1463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8096" y="5120640"/>
            <a:ext cx="2958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Smart instrument clusters (5″ &amp; 7″)</a:t>
            </a:r>
            <a:endParaRPr lang="en-US" sz="1000" dirty="0"/>
          </a:p>
        </p:txBody>
      </p:sp>
      <p:pic>
        <p:nvPicPr>
          <p:cNvPr id="9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044" y="5138928"/>
            <a:ext cx="146304" cy="14630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000500" y="5120640"/>
            <a:ext cx="2958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Tractor automation electronics</a:t>
            </a:r>
            <a:endParaRPr lang="en-US" sz="1000" dirty="0"/>
          </a:p>
        </p:txBody>
      </p:sp>
      <p:pic>
        <p:nvPicPr>
          <p:cNvPr id="11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49824"/>
            <a:ext cx="146304" cy="14630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68096" y="5431536"/>
            <a:ext cx="2958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GPS tracker &amp; gateway telematics</a:t>
            </a:r>
            <a:endParaRPr lang="en-US" sz="1000" dirty="0"/>
          </a:p>
        </p:txBody>
      </p:sp>
      <p:pic>
        <p:nvPicPr>
          <p:cNvPr id="13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044" y="5449824"/>
            <a:ext cx="146304" cy="14630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000500" y="5431536"/>
            <a:ext cx="2958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Cloud dashboards, mobile apps, OTA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548640" y="594360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AUTOMOTIVE ENGINEERING CAPABILITIES</a:t>
            </a:r>
            <a:endParaRPr lang="en-US" sz="800" dirty="0"/>
          </a:p>
        </p:txBody>
      </p:sp>
      <p:sp>
        <p:nvSpPr>
          <p:cNvPr id="16" name="Shape 9"/>
          <p:cNvSpPr/>
          <p:nvPr/>
        </p:nvSpPr>
        <p:spPr>
          <a:xfrm>
            <a:off x="548640" y="6263640"/>
            <a:ext cx="311810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7" name="Text 10"/>
          <p:cNvSpPr txBox="1"/>
          <p:nvPr/>
        </p:nvSpPr>
        <p:spPr>
          <a:xfrm>
            <a:off x="73152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01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1234440" y="644652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Display technology</a:t>
            </a:r>
            <a:endParaRPr lang="en-US" sz="1150" dirty="0"/>
          </a:p>
        </p:txBody>
      </p:sp>
      <p:sp>
        <p:nvSpPr>
          <p:cNvPr id="19" name="Text 12"/>
          <p:cNvSpPr txBox="1"/>
          <p:nvPr/>
        </p:nvSpPr>
        <p:spPr>
          <a:xfrm>
            <a:off x="1234440" y="67665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LCD/TFT · anti-glare · sunlight readable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3895344" y="6263640"/>
            <a:ext cx="311810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4078224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02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4581144" y="644652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Real-time data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4581144" y="676656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CAN bus · diagnostics · instant updates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48640" y="7498080"/>
            <a:ext cx="311810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31520" y="7680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03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1234440" y="76809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Custom design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1234440" y="80010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Custom layouts · brand integration · DFM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3895344" y="7498080"/>
            <a:ext cx="311810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4078224" y="7680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04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81144" y="76809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Quality</a:t>
            </a:r>
            <a:endParaRPr lang="en-US" sz="1150" dirty="0"/>
          </a:p>
        </p:txBody>
      </p:sp>
      <p:sp>
        <p:nvSpPr>
          <p:cNvPr id="31" name="Text 24"/>
          <p:cNvSpPr txBox="1"/>
          <p:nvPr/>
        </p:nvSpPr>
        <p:spPr>
          <a:xfrm>
            <a:off x="4581144" y="80010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IATF 16949 ready · AEC-Q100 · EMC &amp; vibration tested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lnut Technolog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111170" cy="2926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5"/>
                </a:solidFill>
              </a:rPr>
              <a:t>08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4028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IoT solutions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5916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GPS tracker &amp; gateway, 4G smart lock and the cloud and mobile platform behind them — designed, built and supported in-house.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4069080"/>
            <a:ext cx="1011875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069080"/>
            <a:ext cx="101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GPS tracking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51955" y="4069080"/>
            <a:ext cx="818342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51955" y="4069080"/>
            <a:ext cx="8183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Telemetry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1737" y="4069080"/>
            <a:ext cx="1269919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61737" y="4069080"/>
            <a:ext cx="12699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Fleet management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923096" y="4069080"/>
            <a:ext cx="1011875" cy="256032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23096" y="4069080"/>
            <a:ext cx="1011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Cloud &amp; apps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7562088" cy="584301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1" descr="IoT solu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57800"/>
            <a:ext cx="646480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08 · IOT SOLUTIONS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GPS Tracker &amp; Gateway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3931920"/>
          </a:xfrm>
          <a:prstGeom prst="roundRect">
            <a:avLst>
              <a:gd name="adj" fmla="val 1860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GPS Tracker &amp; Gatew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5916168" cy="3474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692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Asset tracking &amp; telemetry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6464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tx2"/>
                </a:solidFill>
              </a:rPr>
              <a:t>Reliable GPS tracking device and gateway for industrial and logistics applications — real-time tracking, telemetry reporting and fleet management with secure cloud connectivity.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726948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KEY FEATURES</a:t>
            </a:r>
            <a:endParaRPr lang="en-US" sz="800" dirty="0"/>
          </a:p>
        </p:txBody>
      </p:sp>
      <p:pic>
        <p:nvPicPr>
          <p:cNvPr id="9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580376"/>
            <a:ext cx="146304" cy="1463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8096" y="7562088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Real-time GPS tracking</a:t>
            </a:r>
            <a:endParaRPr lang="en-US" sz="950" dirty="0"/>
          </a:p>
        </p:txBody>
      </p:sp>
      <p:pic>
        <p:nvPicPr>
          <p:cNvPr id="11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044" y="7580376"/>
            <a:ext cx="146304" cy="1463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00500" y="7562088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Telemetry reporting</a:t>
            </a:r>
            <a:endParaRPr lang="en-US" sz="950" dirty="0"/>
          </a:p>
        </p:txBody>
      </p:sp>
      <p:pic>
        <p:nvPicPr>
          <p:cNvPr id="13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7872984"/>
            <a:ext cx="146304" cy="14630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8096" y="785469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Fleet management</a:t>
            </a:r>
            <a:endParaRPr lang="en-US" sz="950" dirty="0"/>
          </a:p>
        </p:txBody>
      </p:sp>
      <p:pic>
        <p:nvPicPr>
          <p:cNvPr id="15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044" y="7872984"/>
            <a:ext cx="146304" cy="14630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000500" y="7854696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Secure cloud gateway</a:t>
            </a:r>
            <a:endParaRPr lang="en-US" sz="950" dirty="0"/>
          </a:p>
        </p:txBody>
      </p:sp>
      <p:pic>
        <p:nvPicPr>
          <p:cNvPr id="17" name="Image 5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8165592"/>
            <a:ext cx="146304" cy="14630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68096" y="8147304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Mobile app ready (iOS &amp; Android)</a:t>
            </a:r>
            <a:endParaRPr lang="en-US" sz="950" dirty="0"/>
          </a:p>
        </p:txBody>
      </p:sp>
      <p:pic>
        <p:nvPicPr>
          <p:cNvPr id="19" name="Image 6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044" y="8165592"/>
            <a:ext cx="146304" cy="14630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4000500" y="8147304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Encrypted data transmission</a:t>
            </a:r>
            <a:endParaRPr lang="en-US" sz="950" dirty="0"/>
          </a:p>
        </p:txBody>
      </p:sp>
      <p:sp>
        <p:nvSpPr>
          <p:cNvPr id="21" name="Shape 12"/>
          <p:cNvSpPr/>
          <p:nvPr/>
        </p:nvSpPr>
        <p:spPr>
          <a:xfrm>
            <a:off x="548640" y="8622792"/>
            <a:ext cx="133443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2" name="Text 13"/>
          <p:cNvSpPr txBox="1"/>
          <p:nvPr/>
        </p:nvSpPr>
        <p:spPr>
          <a:xfrm>
            <a:off x="548640" y="8622792"/>
            <a:ext cx="1334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Fleet &amp; logistics</a:t>
            </a:r>
            <a:endParaRPr lang="en-US" sz="850" dirty="0"/>
          </a:p>
        </p:txBody>
      </p:sp>
      <p:sp>
        <p:nvSpPr>
          <p:cNvPr id="23" name="Shape 14"/>
          <p:cNvSpPr/>
          <p:nvPr/>
        </p:nvSpPr>
        <p:spPr>
          <a:xfrm>
            <a:off x="1974510" y="8622792"/>
            <a:ext cx="114089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1974510" y="8622792"/>
            <a:ext cx="11408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Asset tracking</a:t>
            </a:r>
            <a:endParaRPr lang="en-US" sz="850" dirty="0"/>
          </a:p>
        </p:txBody>
      </p:sp>
      <p:sp>
        <p:nvSpPr>
          <p:cNvPr id="25" name="Shape 16"/>
          <p:cNvSpPr/>
          <p:nvPr/>
        </p:nvSpPr>
        <p:spPr>
          <a:xfrm>
            <a:off x="3206847" y="8622792"/>
            <a:ext cx="88285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3206847" y="8622792"/>
            <a:ext cx="8828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Industrial</a:t>
            </a:r>
            <a:endParaRPr lang="en-US" sz="850" dirty="0"/>
          </a:p>
        </p:txBody>
      </p:sp>
      <p:sp>
        <p:nvSpPr>
          <p:cNvPr id="27" name="Shape 18"/>
          <p:cNvSpPr/>
          <p:nvPr/>
        </p:nvSpPr>
        <p:spPr>
          <a:xfrm>
            <a:off x="4181140" y="8622792"/>
            <a:ext cx="94736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4181140" y="8622792"/>
            <a:ext cx="947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Agriculture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08 · IOT SOLUTIONS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4G smart lock &amp; IoT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64808" cy="265176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4G smart lock with track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5916168" cy="2286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89120"/>
            <a:ext cx="6464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4G Smart Lock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6464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Connected smart lock for logistics, assets and infrastructure — remote access control, real-time monitoring and cloud management from anywhere.</a:t>
            </a:r>
            <a:endParaRPr lang="en-US" sz="1050" dirty="0"/>
          </a:p>
        </p:txBody>
      </p:sp>
      <p:pic>
        <p:nvPicPr>
          <p:cNvPr id="8" name="Image 1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13248"/>
            <a:ext cx="146304" cy="1463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8096" y="5394960"/>
            <a:ext cx="29580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Real-time status monitoring</a:t>
            </a:r>
            <a:endParaRPr lang="en-US" sz="1000" dirty="0"/>
          </a:p>
        </p:txBody>
      </p:sp>
      <p:pic>
        <p:nvPicPr>
          <p:cNvPr id="10" name="Image 2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044" y="5413248"/>
            <a:ext cx="146304" cy="146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00500" y="5394960"/>
            <a:ext cx="29580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Industrial-grade IP67 design</a:t>
            </a:r>
            <a:endParaRPr lang="en-US" sz="1000" dirty="0"/>
          </a:p>
        </p:txBody>
      </p:sp>
      <p:pic>
        <p:nvPicPr>
          <p:cNvPr id="12" name="Image 3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15000"/>
            <a:ext cx="146304" cy="14630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68096" y="5696712"/>
            <a:ext cx="29580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6 months standby capability</a:t>
            </a:r>
            <a:endParaRPr lang="en-US" sz="1000" dirty="0"/>
          </a:p>
        </p:txBody>
      </p:sp>
      <p:pic>
        <p:nvPicPr>
          <p:cNvPr id="14" name="Image 4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044" y="5715000"/>
            <a:ext cx="146304" cy="14630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000500" y="5696712"/>
            <a:ext cx="29580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4G · BLE · Wi-Fi connectivity</a:t>
            </a:r>
            <a:endParaRPr lang="en-US" sz="1000" dirty="0"/>
          </a:p>
        </p:txBody>
      </p:sp>
      <p:pic>
        <p:nvPicPr>
          <p:cNvPr id="16" name="Image 5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016752"/>
            <a:ext cx="146304" cy="14630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68096" y="5998464"/>
            <a:ext cx="29580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Remote access control</a:t>
            </a:r>
            <a:endParaRPr lang="en-US" sz="1000" dirty="0"/>
          </a:p>
        </p:txBody>
      </p:sp>
      <p:pic>
        <p:nvPicPr>
          <p:cNvPr id="18" name="Image 6" descr="C:\Users\Abcom\Documents\Walnut\catalog\source\assets\icons\FiCheckCircle-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044" y="6016752"/>
            <a:ext cx="146304" cy="14630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4000500" y="5998464"/>
            <a:ext cx="29580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Cloud integration</a:t>
            </a:r>
            <a:endParaRPr lang="en-US" sz="1000" dirty="0"/>
          </a:p>
        </p:txBody>
      </p:sp>
      <p:sp>
        <p:nvSpPr>
          <p:cNvPr id="20" name="Text 11"/>
          <p:cNvSpPr txBox="1"/>
          <p:nvPr/>
        </p:nvSpPr>
        <p:spPr>
          <a:xfrm>
            <a:off x="548640" y="644652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IOT ENGINEERING, END TO END</a:t>
            </a:r>
            <a:endParaRPr lang="en-US" sz="800" dirty="0"/>
          </a:p>
        </p:txBody>
      </p:sp>
      <p:sp>
        <p:nvSpPr>
          <p:cNvPr id="21" name="Shape 12"/>
          <p:cNvSpPr/>
          <p:nvPr/>
        </p:nvSpPr>
        <p:spPr>
          <a:xfrm>
            <a:off x="548640" y="6766560"/>
            <a:ext cx="31181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2" name="Text 13"/>
          <p:cNvSpPr txBox="1"/>
          <p:nvPr/>
        </p:nvSpPr>
        <p:spPr>
          <a:xfrm>
            <a:off x="777240" y="6922008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Product design</a:t>
            </a:r>
            <a:endParaRPr lang="en-US" sz="1150" dirty="0"/>
          </a:p>
        </p:txBody>
      </p:sp>
      <p:sp>
        <p:nvSpPr>
          <p:cNvPr id="23" name="Text 14"/>
          <p:cNvSpPr txBox="1"/>
          <p:nvPr/>
        </p:nvSpPr>
        <p:spPr>
          <a:xfrm>
            <a:off x="777240" y="722376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Hardware · RTOS firmware · BLE / Wi-Fi / LTE</a:t>
            </a:r>
            <a:endParaRPr lang="en-US" sz="900" dirty="0"/>
          </a:p>
        </p:txBody>
      </p:sp>
      <p:sp>
        <p:nvSpPr>
          <p:cNvPr id="24" name="Shape 15"/>
          <p:cNvSpPr/>
          <p:nvPr/>
        </p:nvSpPr>
        <p:spPr>
          <a:xfrm>
            <a:off x="3895344" y="6766560"/>
            <a:ext cx="31181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5" name="Text 16"/>
          <p:cNvSpPr txBox="1"/>
          <p:nvPr/>
        </p:nvSpPr>
        <p:spPr>
          <a:xfrm>
            <a:off x="4123944" y="6922008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Security</a:t>
            </a:r>
            <a:endParaRPr lang="en-US" sz="1150" dirty="0"/>
          </a:p>
        </p:txBody>
      </p:sp>
      <p:sp>
        <p:nvSpPr>
          <p:cNvPr id="26" name="Text 17"/>
          <p:cNvSpPr txBox="1"/>
          <p:nvPr/>
        </p:nvSpPr>
        <p:spPr>
          <a:xfrm>
            <a:off x="4123944" y="722376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Encryption · secure element · tamper detection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548640" y="7772400"/>
            <a:ext cx="31181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777240" y="7927848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Manufacturing</a:t>
            </a:r>
            <a:endParaRPr lang="en-US" sz="1150" dirty="0"/>
          </a:p>
        </p:txBody>
      </p:sp>
      <p:sp>
        <p:nvSpPr>
          <p:cNvPr id="29" name="Text 20"/>
          <p:cNvSpPr txBox="1"/>
          <p:nvPr/>
        </p:nvSpPr>
        <p:spPr>
          <a:xfrm>
            <a:off x="777240" y="822960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SMT &amp; PCB · RF testing · firmware flashing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3895344" y="7772400"/>
            <a:ext cx="3118104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4123944" y="7927848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Cloud &amp; mobile</a:t>
            </a:r>
            <a:endParaRPr lang="en-US" sz="1150" dirty="0"/>
          </a:p>
        </p:txBody>
      </p:sp>
      <p:sp>
        <p:nvSpPr>
          <p:cNvPr id="32" name="Text 23"/>
          <p:cNvSpPr txBox="1"/>
          <p:nvPr/>
        </p:nvSpPr>
        <p:spPr>
          <a:xfrm>
            <a:off x="4123944" y="822960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Dashboards · mobile apps · OTA updates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548640" y="8915400"/>
            <a:ext cx="43127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548640" y="8915400"/>
            <a:ext cx="4312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AWS</a:t>
            </a:r>
            <a:endParaRPr lang="en-US" sz="850" dirty="0"/>
          </a:p>
        </p:txBody>
      </p:sp>
      <p:sp>
        <p:nvSpPr>
          <p:cNvPr id="35" name="Shape 26"/>
          <p:cNvSpPr/>
          <p:nvPr/>
        </p:nvSpPr>
        <p:spPr>
          <a:xfrm>
            <a:off x="1071357" y="8915400"/>
            <a:ext cx="4957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1071357" y="8915400"/>
            <a:ext cx="495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MQTT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1658584" y="8915400"/>
            <a:ext cx="56029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1658584" y="8915400"/>
            <a:ext cx="5602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HTTPS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2310323" y="8915400"/>
            <a:ext cx="4957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2310323" y="8915400"/>
            <a:ext cx="495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FOTA</a:t>
            </a:r>
            <a:endParaRPr lang="en-US" sz="850" dirty="0"/>
          </a:p>
        </p:txBody>
      </p:sp>
      <p:sp>
        <p:nvSpPr>
          <p:cNvPr id="41" name="Shape 32"/>
          <p:cNvSpPr/>
          <p:nvPr/>
        </p:nvSpPr>
        <p:spPr>
          <a:xfrm>
            <a:off x="2897551" y="8915400"/>
            <a:ext cx="4957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2897551" y="8915400"/>
            <a:ext cx="495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JSON</a:t>
            </a:r>
            <a:endParaRPr lang="en-US" sz="850" dirty="0"/>
          </a:p>
        </p:txBody>
      </p:sp>
      <p:sp>
        <p:nvSpPr>
          <p:cNvPr id="43" name="Shape 34"/>
          <p:cNvSpPr/>
          <p:nvPr/>
        </p:nvSpPr>
        <p:spPr>
          <a:xfrm>
            <a:off x="3484778" y="8915400"/>
            <a:ext cx="4957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3484778" y="8915400"/>
            <a:ext cx="495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RTOS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4072006" y="8915400"/>
            <a:ext cx="43127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4072006" y="8915400"/>
            <a:ext cx="4312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BLE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4594723" y="8915400"/>
            <a:ext cx="62481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4594723" y="8915400"/>
            <a:ext cx="624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4G LTE</a:t>
            </a:r>
            <a:endParaRPr lang="en-US" sz="850" dirty="0"/>
          </a:p>
        </p:txBody>
      </p:sp>
      <p:sp>
        <p:nvSpPr>
          <p:cNvPr id="49" name="Shape 40"/>
          <p:cNvSpPr/>
          <p:nvPr/>
        </p:nvSpPr>
        <p:spPr>
          <a:xfrm>
            <a:off x="5310972" y="8915400"/>
            <a:ext cx="62481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5310972" y="8915400"/>
            <a:ext cx="624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NB-IoT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09 · WHY WALNUT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Engineering expertise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11810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37360"/>
            <a:ext cx="438912" cy="43891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6" name="Image 0" descr="C:\Users\Abcom\Documents\Walnut\catalog\source\assets\icons\FiHeart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314" y="1855866"/>
            <a:ext cx="201900" cy="201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9164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Medical electronics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98424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Life-critical device design with full regulatory compliance.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95344" y="1508760"/>
            <a:ext cx="311810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096512" y="1737360"/>
            <a:ext cx="438912" cy="43891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1" name="Image 1" descr="C:\Users\Abcom\Documents\Walnut\catalog\source\assets\icons\FiCpu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018" y="1855866"/>
            <a:ext cx="201900" cy="201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18304" y="169164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Embedded systems &amp; IoT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4718304" y="198424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Firmware, RTOS and cloud-connected embedded solutions.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2606040"/>
            <a:ext cx="311810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2834640"/>
            <a:ext cx="438912" cy="43891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6" name="Image 2" descr="C:\Users\Abcom\Documents\Walnut\catalog\source\assets\icons\FiLayers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14" y="2953146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7889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PCB design &amp; fabrication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30815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Multi-layer, HDI and flex PCBs for high-volume production.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895344" y="2606040"/>
            <a:ext cx="311810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4096512" y="2834640"/>
            <a:ext cx="438912" cy="43891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1" name="Image 3" descr="C:\Users\Abcom\Documents\Walnut\catalog\source\assets\icons\FiSettings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018" y="2953146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18304" y="278892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Manufacturing &amp; assembly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4718304" y="308152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4 SMT lines, 500K+ units per month, 99.8% yield.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48640" y="3703320"/>
            <a:ext cx="311810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3931920"/>
            <a:ext cx="438912" cy="43891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6" name="Image 4" descr="C:\Users\Abcom\Documents\Walnut\catalog\source\assets\icons\FiCheckCircle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314" y="4050426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388620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Quality &amp; compliance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371600" y="41788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ISO 13485 quality management, Class 10K cleanroom.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895344" y="3703320"/>
            <a:ext cx="311810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30" name="Shape 23"/>
          <p:cNvSpPr/>
          <p:nvPr/>
        </p:nvSpPr>
        <p:spPr>
          <a:xfrm>
            <a:off x="4096512" y="3931920"/>
            <a:ext cx="438912" cy="43891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31" name="Image 5" descr="C:\Users\Abcom\Documents\Walnut\catalog\source\assets\icons\FiShield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018" y="4050426"/>
            <a:ext cx="201900" cy="201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718304" y="388620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Payment hardware security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4718304" y="41788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PCI PTS, EMVCo and NPCI certified terminal design.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48640" y="4800600"/>
            <a:ext cx="311810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35" name="Shape 27"/>
          <p:cNvSpPr/>
          <p:nvPr/>
        </p:nvSpPr>
        <p:spPr>
          <a:xfrm>
            <a:off x="749808" y="5029200"/>
            <a:ext cx="438912" cy="43891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36" name="Image 6" descr="C:\Users\Abcom\Documents\Walnut\catalog\source\assets\icons\FiCode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314" y="5147706"/>
            <a:ext cx="201900" cy="2019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371600" y="49834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Software &amp; firmware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1371600" y="527608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Full-stack firmware, drivers and companion apps.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895344" y="4800600"/>
            <a:ext cx="3118104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40" name="Shape 31"/>
          <p:cNvSpPr/>
          <p:nvPr/>
        </p:nvSpPr>
        <p:spPr>
          <a:xfrm>
            <a:off x="4096512" y="5029200"/>
            <a:ext cx="438912" cy="438912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41" name="Image 7" descr="C:\Users\Abcom\Documents\Walnut\catalog\source\assets\icons\FiGlobe-l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5018" y="5147706"/>
            <a:ext cx="201900" cy="2019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718304" y="4983480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Supply chain &amp; logistics</a:t>
            </a:r>
            <a:endParaRPr lang="en-US" sz="1150" dirty="0"/>
          </a:p>
        </p:txBody>
      </p:sp>
      <p:sp>
        <p:nvSpPr>
          <p:cNvPr id="43" name="Text 33"/>
          <p:cNvSpPr txBox="1"/>
          <p:nvPr/>
        </p:nvSpPr>
        <p:spPr>
          <a:xfrm>
            <a:off x="4718304" y="527608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Global component sourcing and door-to-door delivery.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548640" y="608076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WHY MANUFACTURERS CHOOSE WALNUT</a:t>
            </a:r>
            <a:endParaRPr lang="en-US" sz="800" dirty="0"/>
          </a:p>
        </p:txBody>
      </p:sp>
      <p:sp>
        <p:nvSpPr>
          <p:cNvPr id="45" name="Shape 35"/>
          <p:cNvSpPr/>
          <p:nvPr/>
        </p:nvSpPr>
        <p:spPr>
          <a:xfrm>
            <a:off x="548640" y="640080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46" name="Image 8" descr="C:\Users\Abcom\Documents\Walnut\catalog\source\assets\icons\FiTrendingUp-l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520" y="6489680"/>
            <a:ext cx="151425" cy="15142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005840" y="638251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Mass manufacturing</a:t>
            </a:r>
            <a:endParaRPr lang="en-US" sz="1050" dirty="0"/>
          </a:p>
        </p:txBody>
      </p:sp>
      <p:sp>
        <p:nvSpPr>
          <p:cNvPr id="48" name="Text 37"/>
          <p:cNvSpPr txBox="1"/>
          <p:nvPr/>
        </p:nvSpPr>
        <p:spPr>
          <a:xfrm>
            <a:off x="1005840" y="66294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500K+ units every month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3895344" y="6400800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50" name="Image 9" descr="C:\Users\Abcom\Documents\Walnut\catalog\source\assets\icons\FiCpu-l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84224" y="6489680"/>
            <a:ext cx="151425" cy="15142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4352544" y="638251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DICE &amp; chip bonding</a:t>
            </a:r>
            <a:endParaRPr lang="en-US" sz="1050" dirty="0"/>
          </a:p>
        </p:txBody>
      </p:sp>
      <p:sp>
        <p:nvSpPr>
          <p:cNvPr id="52" name="Text 40"/>
          <p:cNvSpPr txBox="1"/>
          <p:nvPr/>
        </p:nvSpPr>
        <p:spPr>
          <a:xfrm>
            <a:off x="4352544" y="66294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Maximum cost savings</a:t>
            </a:r>
            <a:endParaRPr lang="en-US" sz="900" dirty="0"/>
          </a:p>
        </p:txBody>
      </p:sp>
      <p:sp>
        <p:nvSpPr>
          <p:cNvPr id="53" name="Shape 41"/>
          <p:cNvSpPr/>
          <p:nvPr/>
        </p:nvSpPr>
        <p:spPr>
          <a:xfrm>
            <a:off x="548640" y="7059168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54" name="Image 10" descr="C:\Users\Abcom\Documents\Walnut\catalog\source\assets\icons\FiRefreshCw-l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520" y="7148048"/>
            <a:ext cx="151425" cy="15142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1005840" y="704088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Lean manufacturing</a:t>
            </a:r>
            <a:endParaRPr lang="en-US" sz="1050" dirty="0"/>
          </a:p>
        </p:txBody>
      </p:sp>
      <p:sp>
        <p:nvSpPr>
          <p:cNvPr id="56" name="Text 43"/>
          <p:cNvSpPr txBox="1"/>
          <p:nvPr/>
        </p:nvSpPr>
        <p:spPr>
          <a:xfrm>
            <a:off x="1005840" y="728776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Across the whole organisation</a:t>
            </a:r>
            <a:endParaRPr lang="en-US" sz="900" dirty="0"/>
          </a:p>
        </p:txBody>
      </p:sp>
      <p:sp>
        <p:nvSpPr>
          <p:cNvPr id="57" name="Shape 44"/>
          <p:cNvSpPr/>
          <p:nvPr/>
        </p:nvSpPr>
        <p:spPr>
          <a:xfrm>
            <a:off x="3895344" y="7059168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58" name="Image 11" descr="C:\Users\Abcom\Documents\Walnut\catalog\source\assets\icons\FiCloud-l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84224" y="7148048"/>
            <a:ext cx="151425" cy="151425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4352544" y="704088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Cloud &amp; firmware in-house</a:t>
            </a:r>
            <a:endParaRPr lang="en-US" sz="1050" dirty="0"/>
          </a:p>
        </p:txBody>
      </p:sp>
      <p:sp>
        <p:nvSpPr>
          <p:cNvPr id="60" name="Text 46"/>
          <p:cNvSpPr txBox="1"/>
          <p:nvPr/>
        </p:nvSpPr>
        <p:spPr>
          <a:xfrm>
            <a:off x="4352544" y="728776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AWS, RTOS, MQTT, FOTA</a:t>
            </a:r>
            <a:endParaRPr lang="en-US" sz="900" dirty="0"/>
          </a:p>
        </p:txBody>
      </p:sp>
      <p:sp>
        <p:nvSpPr>
          <p:cNvPr id="61" name="Shape 47"/>
          <p:cNvSpPr/>
          <p:nvPr/>
        </p:nvSpPr>
        <p:spPr>
          <a:xfrm>
            <a:off x="548640" y="7717536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62" name="Image 12" descr="C:\Users\Abcom\Documents\Walnut\catalog\source\assets\icons\FiShield-ligh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7520" y="7806416"/>
            <a:ext cx="151425" cy="151425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1005840" y="769924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Debt-free &amp; bootstrapped</a:t>
            </a:r>
            <a:endParaRPr lang="en-US" sz="1050" dirty="0"/>
          </a:p>
        </p:txBody>
      </p:sp>
      <p:sp>
        <p:nvSpPr>
          <p:cNvPr id="64" name="Text 49"/>
          <p:cNvSpPr txBox="1"/>
          <p:nvPr/>
        </p:nvSpPr>
        <p:spPr>
          <a:xfrm>
            <a:off x="1005840" y="79461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 stable long-term partner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3895344" y="7717536"/>
            <a:ext cx="329184" cy="329184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66" name="Image 13" descr="C:\Users\Abcom\Documents\Walnut\catalog\source\assets\icons\FiTarget-light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84224" y="7806416"/>
            <a:ext cx="151425" cy="151425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4352544" y="769924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Fast growth</a:t>
            </a:r>
            <a:endParaRPr lang="en-US" sz="1050" dirty="0"/>
          </a:p>
        </p:txBody>
      </p:sp>
      <p:sp>
        <p:nvSpPr>
          <p:cNvPr id="68" name="Text 52"/>
          <p:cNvSpPr txBox="1"/>
          <p:nvPr/>
        </p:nvSpPr>
        <p:spPr>
          <a:xfrm>
            <a:off x="4352544" y="79461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CAGR above 100% (last 4 years)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09 · CLIENTS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Trusted by leading brands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33016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5" name="Image 0" descr="HDFC B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668" y="171450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64536" y="1508760"/>
            <a:ext cx="2033016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7" name="Image 1" descr="SB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564" y="1714500"/>
            <a:ext cx="822960" cy="822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80432" y="1508760"/>
            <a:ext cx="2033016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9" name="Image 2" descr="Payt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460" y="1714500"/>
            <a:ext cx="822960" cy="8229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2926080"/>
            <a:ext cx="2033016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11" name="Image 3" descr="Bharat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668" y="3131820"/>
            <a:ext cx="822960" cy="8229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764536" y="2926080"/>
            <a:ext cx="2033016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13" name="Image 4" descr="Apoll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168" y="3131820"/>
            <a:ext cx="769751" cy="82296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980432" y="2926080"/>
            <a:ext cx="2033016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15" name="Image 5" descr="Indian Arm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703" y="3131820"/>
            <a:ext cx="820474" cy="82296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548640" y="4480560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chemeClr val="tx2"/>
                </a:solidFill>
              </a:rPr>
              <a:t>INDUSTRIES WE SERVE</a:t>
            </a:r>
            <a:endParaRPr lang="en-US" sz="800" dirty="0"/>
          </a:p>
        </p:txBody>
      </p:sp>
      <p:sp>
        <p:nvSpPr>
          <p:cNvPr id="17" name="Shape 9"/>
          <p:cNvSpPr/>
          <p:nvPr/>
        </p:nvSpPr>
        <p:spPr>
          <a:xfrm>
            <a:off x="548640" y="480060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8" name="Image 6" descr="C:\Users\Abcom\Documents\Walnut\catalog\source\assets\icons\FiHeart-l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33" y="4904293"/>
            <a:ext cx="176662" cy="17666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078992" y="47823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Healthcare</a:t>
            </a:r>
            <a:endParaRPr lang="en-US" sz="1150" dirty="0"/>
          </a:p>
        </p:txBody>
      </p:sp>
      <p:sp>
        <p:nvSpPr>
          <p:cNvPr id="20" name="Text 11"/>
          <p:cNvSpPr txBox="1"/>
          <p:nvPr/>
        </p:nvSpPr>
        <p:spPr>
          <a:xfrm>
            <a:off x="1078992" y="505663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Hospitals, clinics and medical device companies</a:t>
            </a:r>
            <a:endParaRPr lang="en-US" sz="900" dirty="0"/>
          </a:p>
        </p:txBody>
      </p:sp>
      <p:sp>
        <p:nvSpPr>
          <p:cNvPr id="21" name="Shape 12"/>
          <p:cNvSpPr/>
          <p:nvPr/>
        </p:nvSpPr>
        <p:spPr>
          <a:xfrm>
            <a:off x="3895344" y="480060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2" name="Image 7" descr="C:\Users\Abcom\Documents\Walnut\catalog\source\assets\icons\FiShield-l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9037" y="4904293"/>
            <a:ext cx="176662" cy="17666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425696" y="47823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Defence &amp; aerospace</a:t>
            </a:r>
            <a:endParaRPr lang="en-US" sz="1150" dirty="0"/>
          </a:p>
        </p:txBody>
      </p:sp>
      <p:sp>
        <p:nvSpPr>
          <p:cNvPr id="24" name="Text 14"/>
          <p:cNvSpPr txBox="1"/>
          <p:nvPr/>
        </p:nvSpPr>
        <p:spPr>
          <a:xfrm>
            <a:off x="4425696" y="505663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Mission-critical electronics for defence</a:t>
            </a:r>
            <a:endParaRPr lang="en-US" sz="900" dirty="0"/>
          </a:p>
        </p:txBody>
      </p:sp>
      <p:sp>
        <p:nvSpPr>
          <p:cNvPr id="25" name="Shape 15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6" name="Image 8" descr="C:\Users\Abcom\Documents\Walnut\catalog\source\assets\icons\FiCreditCard-l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333" y="5772973"/>
            <a:ext cx="176662" cy="176662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1078992" y="565099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Banking &amp; payments</a:t>
            </a:r>
            <a:endParaRPr lang="en-US" sz="1150" dirty="0"/>
          </a:p>
        </p:txBody>
      </p:sp>
      <p:sp>
        <p:nvSpPr>
          <p:cNvPr id="28" name="Text 17"/>
          <p:cNvSpPr txBox="1"/>
          <p:nvPr/>
        </p:nvSpPr>
        <p:spPr>
          <a:xfrm>
            <a:off x="1078992" y="592531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POS terminals, soundboxes and payment devices</a:t>
            </a:r>
            <a:endParaRPr lang="en-US" sz="900" dirty="0"/>
          </a:p>
        </p:txBody>
      </p:sp>
      <p:sp>
        <p:nvSpPr>
          <p:cNvPr id="29" name="Shape 18"/>
          <p:cNvSpPr/>
          <p:nvPr/>
        </p:nvSpPr>
        <p:spPr>
          <a:xfrm>
            <a:off x="3895344" y="566928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30" name="Image 9" descr="C:\Users\Abcom\Documents\Walnut\catalog\source\assets\icons\FiActivity-l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9037" y="5772973"/>
            <a:ext cx="176662" cy="176662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425696" y="565099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Pharmaceutical</a:t>
            </a:r>
            <a:endParaRPr lang="en-US" sz="1150" dirty="0"/>
          </a:p>
        </p:txBody>
      </p:sp>
      <p:sp>
        <p:nvSpPr>
          <p:cNvPr id="32" name="Text 20"/>
          <p:cNvSpPr txBox="1"/>
          <p:nvPr/>
        </p:nvSpPr>
        <p:spPr>
          <a:xfrm>
            <a:off x="4425696" y="592531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Manufacturing equipment and monitoring systems</a:t>
            </a:r>
            <a:endParaRPr lang="en-US" sz="900" dirty="0"/>
          </a:p>
        </p:txBody>
      </p:sp>
      <p:sp>
        <p:nvSpPr>
          <p:cNvPr id="33" name="Shape 21"/>
          <p:cNvSpPr/>
          <p:nvPr/>
        </p:nvSpPr>
        <p:spPr>
          <a:xfrm>
            <a:off x="548640" y="653796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34" name="Image 10" descr="C:\Users\Abcom\Documents\Walnut\catalog\source\assets\icons\FiZap-l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333" y="6641653"/>
            <a:ext cx="176662" cy="176662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078992" y="651967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Energy &amp; utilities</a:t>
            </a:r>
            <a:endParaRPr lang="en-US" sz="1150" dirty="0"/>
          </a:p>
        </p:txBody>
      </p:sp>
      <p:sp>
        <p:nvSpPr>
          <p:cNvPr id="36" name="Text 23"/>
          <p:cNvSpPr txBox="1"/>
          <p:nvPr/>
        </p:nvSpPr>
        <p:spPr>
          <a:xfrm>
            <a:off x="1078992" y="679399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Smart metering, grid monitoring, industrial controls</a:t>
            </a:r>
            <a:endParaRPr lang="en-US" sz="900" dirty="0"/>
          </a:p>
        </p:txBody>
      </p:sp>
      <p:sp>
        <p:nvSpPr>
          <p:cNvPr id="37" name="Shape 24"/>
          <p:cNvSpPr/>
          <p:nvPr/>
        </p:nvSpPr>
        <p:spPr>
          <a:xfrm>
            <a:off x="3895344" y="653796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38" name="Image 11" descr="C:\Users\Abcom\Documents\Walnut\catalog\source\assets\icons\FiTruck-l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99037" y="6641653"/>
            <a:ext cx="176662" cy="176662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4425696" y="651967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Industrial &amp; automotive</a:t>
            </a:r>
            <a:endParaRPr lang="en-US" sz="1150" dirty="0"/>
          </a:p>
        </p:txBody>
      </p:sp>
      <p:sp>
        <p:nvSpPr>
          <p:cNvPr id="40" name="Text 26"/>
          <p:cNvSpPr txBox="1"/>
          <p:nvPr/>
        </p:nvSpPr>
        <p:spPr>
          <a:xfrm>
            <a:off x="4425696" y="6793992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Industrial electronics, sensors and automotive</a:t>
            </a:r>
            <a:endParaRPr lang="en-US" sz="900" dirty="0"/>
          </a:p>
        </p:txBody>
      </p:sp>
      <p:pic>
        <p:nvPicPr>
          <p:cNvPr id="41" name="Image 12" descr="Walnut factory floo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7498080"/>
            <a:ext cx="6464808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10 · CONTACT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Let's build what's next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64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2"/>
                </a:solidFill>
              </a:rPr>
              <a:t>Engineering precision with user-centric design. We welcome the opportunity to collaborate with your team — from a first prototype to mass production.</a:t>
            </a:r>
            <a:endParaRPr lang="en-US" sz="1150" dirty="0"/>
          </a:p>
        </p:txBody>
      </p:sp>
      <p:pic>
        <p:nvPicPr>
          <p:cNvPr id="5" name="Image 0" descr="Business partners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23160"/>
            <a:ext cx="6464808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6035040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7" name="Image 1" descr="C:\Users\Abcom\Documents\Walnut\catalog\source\assets\icons\FiMapPin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" y="6138733"/>
            <a:ext cx="176662" cy="1766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97280" y="6016752"/>
            <a:ext cx="5870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Address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6272784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Plot No. 132, JLPL Industrial Park, Sector 82, Mohali, Punjab 160055, India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48640" y="6748272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1" name="Image 2" descr="C:\Users\Abcom\Documents\Walnut\catalog\source\assets\icons\FiHome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" y="6851965"/>
            <a:ext cx="176662" cy="17666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6729984"/>
            <a:ext cx="5870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Upcoming facility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1097280" y="6986016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Dhanana (Upcoming in Haryana)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48640" y="7461504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5" name="Image 3" descr="C:\Users\Abcom\Documents\Walnut\catalog\source\assets\icons\FiPhone-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7565197"/>
            <a:ext cx="176662" cy="17666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7443216"/>
            <a:ext cx="5870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Phone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1097280" y="7699248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+91 77194 63719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48640" y="8174736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19" name="Image 4" descr="C:\Users\Abcom\Documents\Walnut\catalog\source\assets\icons\FiMail-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" y="8278429"/>
            <a:ext cx="176662" cy="17666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97280" y="8156448"/>
            <a:ext cx="5870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Email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1097280" y="8412480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contact@walnutmedical.in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48640" y="8887968"/>
            <a:ext cx="384048" cy="384048"/>
          </a:xfrm>
          <a:prstGeom prst="ellipse">
            <a:avLst/>
          </a:prstGeom>
          <a:solidFill>
            <a:srgbClr val="111111"/>
          </a:solidFill>
          <a:ln/>
        </p:spPr>
      </p:sp>
      <p:pic>
        <p:nvPicPr>
          <p:cNvPr id="23" name="Image 5" descr="C:\Users\Abcom\Documents\Walnut\catalog\source\assets\icons\FiGlobe-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3" y="8991661"/>
            <a:ext cx="176662" cy="17666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97280" y="8869680"/>
            <a:ext cx="5870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Website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1097280" y="9125712"/>
            <a:ext cx="5870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walnutmedical.in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6464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chemeClr val="tx2"/>
                </a:solidFill>
              </a:rPr>
              <a:t>NOTES</a:t>
            </a:r>
            <a:endParaRPr lang="en-US" sz="8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658368"/>
            <a:ext cx="6464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0604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01752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42900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84048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25196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66344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07492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48640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89788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630936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672084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713232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754380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795528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836676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877824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918972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9601200"/>
            <a:ext cx="646480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01968" y="1012240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bcom\Documents\Walnut\catalog\source\assets\wm-white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2318004" y="2194560"/>
            <a:ext cx="2926080" cy="1093862"/>
          </a:xfrm>
          <a:prstGeom prst="rect">
            <a:avLst/>
          </a:prstGeom>
        </p:spPr>
      </p:pic>
      <p:pic>
        <p:nvPicPr>
          <p:cNvPr id="3" name="Image 1" descr="Walnut Technolog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943" y="4206240"/>
            <a:ext cx="1736203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4983480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Intelligent Embedded Systems, Engineered for a Connected World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566928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Medical  ·  Neuro-rehabilitation  ·  Fintech  ·  Automotive  ·  IoT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8503920"/>
            <a:ext cx="64648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chemeClr val="bg1"/>
                </a:solidFill>
              </a:rPr>
              <a:t>Walnut Technologies Pvt. Ltd.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accent3"/>
                </a:solidFill>
              </a:rPr>
              <a:t>Plot No. 132, JLPL Industrial Park, Sector 82, Mohali, Punjab 160055, India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accent3"/>
                </a:solidFill>
              </a:rPr>
              <a:t>Dhanana (Upcoming in Haryana)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chemeClr val="accent3"/>
                </a:solidFill>
              </a:rPr>
              <a:t>+91 77194 63719  ·  contact@walnutmedical.in  ·  walnutmedical.in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lnut Monochrome">
  <a:themeElements>
    <a:clrScheme name="Walnut Monochrome">
      <a:dk1>
        <a:srgbClr val="111111"/>
      </a:dk1>
      <a:lt1>
        <a:srgbClr val="FFFFFF"/>
      </a:lt1>
      <a:dk2>
        <a:srgbClr val="5E5E5E"/>
      </a:dk2>
      <a:lt2>
        <a:srgbClr val="F2F2F2"/>
      </a:lt2>
      <a:accent1>
        <a:srgbClr val="111111"/>
      </a:accent1>
      <a:accent2>
        <a:srgbClr val="1E1E1E"/>
      </a:accent2>
      <a:accent3>
        <a:srgbClr val="A6A6A6"/>
      </a:accent3>
      <a:accent4>
        <a:srgbClr val="D9D9D9"/>
      </a:accent4>
      <a:accent5>
        <a:srgbClr val="3A3A3A"/>
      </a:accent5>
      <a:accent6>
        <a:srgbClr val="8C8C8C"/>
      </a:accent6>
      <a:hlink>
        <a:srgbClr val="111111"/>
      </a:hlink>
      <a:folHlink>
        <a:srgbClr val="5E5E5E"/>
      </a:folHlink>
    </a:clrScheme>
    <a:fontScheme name="Walnut 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Walnut Technologies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Walnut Technologies — Product Catalog 2026</dc:title>
  <dc:subject>Medical, neuro-rehabilitation, fintech, automotive and IoT products</dc:subject>
  <dc:creator>Walnut Technologies Pvt. Ltd.</dc:creator>
  <cp:lastModifiedBy>Walnut Technologies Pvt. Ltd.</cp:lastModifiedBy>
  <cp:revision>1</cp:revision>
  <dcterms:created xsi:type="dcterms:W3CDTF">2026-10-23T13:20:37Z</dcterms:created>
  <dcterms:modified xsi:type="dcterms:W3CDTF">2026-10-23T13:20:37Z</dcterms:modified>
</cp:coreProperties>
</file>