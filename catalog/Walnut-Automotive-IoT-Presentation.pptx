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7afbfc-4bcf-f428-aba6-d821f9647ab5}">
          <p14:sldIdLst>
            <p14:sldId id="256"/>
          </p14:sldIdLst>
        </p14:section>
        <p14:section name="About" id="{0cf10d2c-ab15-eb83-bee2-e798561075f5}">
          <p14:sldIdLst>
            <p14:sldId id="257"/>
            <p14:sldId id="258"/>
            <p14:sldId id="259"/>
          </p14:sldIdLst>
        </p14:section>
        <p14:section name="Journey" id="{ee29a954-4bd4-db8e-17c0-df4b228810d4}">
          <p14:sldIdLst>
            <p14:sldId id="260"/>
          </p14:sldIdLst>
        </p14:section>
        <p14:section name="Infrastructure" id="{f971388a-0b3f-6f13-21b3-42be4e5a6f5f}">
          <p14:sldIdLst>
            <p14:sldId id="261"/>
            <p14:sldId id="262"/>
            <p14:sldId id="263"/>
            <p14:sldId id="264"/>
          </p14:sldIdLst>
        </p14:section>
        <p14:section name="Automotive" id="{d1a63214-89ec-7066-ed3b-8c053f2e43f8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IoT" id="{ae813361-1cd1-6b02-d2d8-bee57c174521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lients &amp; contact" id="{f94b536e-2c31-42dc-a536-0f394010ad21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880360"/>
            <a:ext cx="6035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34340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880360"/>
            <a:ext cx="4389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343400"/>
            <a:ext cx="4389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com\Documents\Walnut\catalog\source\assets\wm-ink.png">    </p:cNvPr>
          <p:cNvPicPr>
            <a:picLocks noChangeAspect="1"/>
          </p:cNvPicPr>
          <p:nvPr/>
        </p:nvPicPr>
        <p:blipFill>
          <a:blip r:embed="rId1">
            <a:alphaModFix amt="6000"/>
          </a:blip>
          <a:stretch>
            <a:fillRect/>
          </a:stretch>
        </p:blipFill>
        <p:spPr>
          <a:xfrm>
            <a:off x="8549640" y="4617720"/>
            <a:ext cx="4206240" cy="1572768"/>
          </a:xfrm>
          <a:prstGeom prst="rect">
            <a:avLst/>
          </a:prstGeom>
        </p:spPr>
      </p:pic>
      <p:pic>
        <p:nvPicPr>
          <p:cNvPr id="3" name="Image 1" descr="C:\Users\Abcom\Documents\Walnut\catalog\source\assets\logo-wal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80618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778240" y="6327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walnutmedical.in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com\Documents\Walnut\catalog\source\assets\wm-white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8549640" y="4617720"/>
            <a:ext cx="4206240" cy="1572768"/>
          </a:xfrm>
          <a:prstGeom prst="rect">
            <a:avLst/>
          </a:prstGeom>
        </p:spPr>
      </p:pic>
      <p:pic>
        <p:nvPicPr>
          <p:cNvPr id="3" name="Image 1" descr="C:\Users\Abcom\Documents\Walnut\catalog\source\assets\logo-walnu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09360"/>
            <a:ext cx="1180618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778240" y="6327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walnutmedical.in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image" Target="../media/image-8-8.jpg"/><Relationship Id="rId9" Type="http://schemas.openxmlformats.org/officeDocument/2006/relationships/image" Target="../media/image-8-9.jpg"/><Relationship Id="rId10" Type="http://schemas.openxmlformats.org/officeDocument/2006/relationships/image" Target="../media/image-8-10.jp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com\Documents\Walnut\catalog\source\assets\cache\cluster-maps-1591x1650-cover-0-5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pic>
        <p:nvPicPr>
          <p:cNvPr id="3" name="Image 1" descr="Walnut Technolog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951544" cy="7772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AUTOMOTIVE &amp; IOT SOLUTIONS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56032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Smart clusters,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connected devices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343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Smart instrument clusters with phone screen mirroring, GPS trackers and gateways, and IoT devices — designed and manufactured in India by Walnut Technologies.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263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Walnut Technologies™  ·  Mohali, India  ·  walnutmedical.in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01 · ABOUT WALNUT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we are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Walnut Medical &amp; Walnut Technologies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is a multi-vertical original design and equipment manufacturer (ODM/OEM). Established in 2016, we have grown from a small electronics workshop into a vertically integrated design and manufacturing partner for technologically advanced products — today including smart instrument clusters, telematics and IoT devices.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From PCB design to final assembly, every stage is in-house: electronics and firmware design, mould design, SMT, testing, quality and dispatch.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C:\Users\Abcom\Documents\Walnut\catalog\source\assets\icons\FiMapPi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333" y="4629973"/>
            <a:ext cx="176662" cy="1766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33856" y="450799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Production units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33856" y="4800600"/>
            <a:ext cx="4626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Mohali (Punjab) · AMTZ, Visakhapatnam (Andhra Pradesh) · Dhanana (Upcoming in Haryana)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312664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C:\Users\Abcom\Documents\Walnut\catalog\source\assets\icons\FiAwar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" y="5416357"/>
            <a:ext cx="176662" cy="1766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33856" y="52943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Certified quality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" y="5586984"/>
            <a:ext cx="4626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ISO 13485 · CE · FCC · BIS · Industry 4.0 · Full traceability</a:t>
            </a:r>
            <a:endParaRPr lang="en-US" sz="1300" dirty="0"/>
          </a:p>
        </p:txBody>
      </p:sp>
      <p:pic>
        <p:nvPicPr>
          <p:cNvPr id="14" name="Image 2" descr="Walnut assembly 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2619756" cy="4389120"/>
          </a:xfrm>
          <a:prstGeom prst="rect">
            <a:avLst/>
          </a:prstGeom>
        </p:spPr>
      </p:pic>
      <p:pic>
        <p:nvPicPr>
          <p:cNvPr id="15" name="Image 3" descr="Microscope soldering and rewo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1600200"/>
            <a:ext cx="2619756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</a:rPr>
              <a:t>SCALE &amp; REACH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Walnut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10+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87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Years of excellence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600+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2587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Engineers &amp; technicians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10+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587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Countries served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500K+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5371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Units manufactured / month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657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150,000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455371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Sq. ft facility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657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4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455371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SMT production lines</a:t>
            </a:r>
            <a:endParaRPr lang="en-US" sz="1400" dirty="0"/>
          </a:p>
        </p:txBody>
      </p:sp>
      <p:pic>
        <p:nvPicPr>
          <p:cNvPr id="16" name="Image 0" descr="Functional test stations on the Walnut factory fl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91640"/>
            <a:ext cx="4005072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01 · ABOUT WALNUT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Leadership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806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Siddharth Dhawan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258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Director &amp; CEO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606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Spent 10 years at National Instruments Corp. in the USA and India, working in high-tech embedded and control systems and managing the business in India.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806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160520"/>
            <a:ext cx="822960" cy="82296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AB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Amol Bhardwaj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544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Director &amp; CTO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892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Leads medical device development; launched devices across diagnostics, therapeutics and robotics — EEG, ECG, rTMS and gait training robots. Expert in QC tools, SPC, APQP, PPAP, Six Sigma, Cpk and 5S; Management Representative for ISO 13485 and CE audits (2009–2014).</a:t>
            </a:r>
            <a:endParaRPr lang="en-US" sz="1200" dirty="0"/>
          </a:p>
        </p:txBody>
      </p:sp>
      <p:pic>
        <p:nvPicPr>
          <p:cNvPr id="16" name="Image 0" descr="Walnut engineering team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0200"/>
            <a:ext cx="5013655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02 · JOURNEY 2016 – 2026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62721" y="3538728"/>
            <a:ext cx="9666253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428162" cy="1645920"/>
          </a:xfrm>
          <a:prstGeom prst="roundRect">
            <a:avLst>
              <a:gd name="adj" fmla="val 5122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6" name="Image 0" descr="Walnut Medical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563624"/>
            <a:ext cx="1318434" cy="1536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62721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849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2016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Walnut Medical founded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Started with a vision to make quality healthcare more accessible.</a:t>
            </a:r>
            <a:endParaRPr lang="en-US" sz="1200" dirty="0"/>
          </a:p>
        </p:txBody>
      </p:sp>
      <p:pic>
        <p:nvPicPr>
          <p:cNvPr id="12" name="Image 1" descr="WalkLab gait training 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682" y="1508760"/>
            <a:ext cx="1428162" cy="1645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59682" y="1508760"/>
            <a:ext cx="1428162" cy="1645920"/>
          </a:xfrm>
          <a:prstGeom prst="roundRect">
            <a:avLst>
              <a:gd name="adj" fmla="val 5122"/>
            </a:avLst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73763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54891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59682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2017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2159682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Robotics &amp; neuro-rehab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159682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Walkex functional therapy and the WalkLab gait-training robot.</a:t>
            </a:r>
            <a:endParaRPr lang="en-US" sz="1200" dirty="0"/>
          </a:p>
        </p:txBody>
      </p:sp>
      <p:pic>
        <p:nvPicPr>
          <p:cNvPr id="19" name="Image 2" descr="Walnut Medical digital BP moni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724" y="1508760"/>
            <a:ext cx="1428162" cy="16459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770724" y="1508760"/>
            <a:ext cx="1428162" cy="1645920"/>
          </a:xfrm>
          <a:prstGeom prst="roundRect">
            <a:avLst>
              <a:gd name="adj" fmla="val 5122"/>
            </a:avLst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484805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365933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770724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2019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3770724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Medical devices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3770724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IR thermometer and digital BP monitor, then nebulizers and oxygen concentrators.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381767" y="1508760"/>
            <a:ext cx="1428162" cy="1645920"/>
          </a:xfrm>
          <a:prstGeom prst="roundRect">
            <a:avLst>
              <a:gd name="adj" fmla="val 5122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27" name="Image 3" descr="Walnut Technologies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631" y="1563624"/>
            <a:ext cx="1318434" cy="153619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095848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76976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81767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2021</a:t>
            </a:r>
            <a:endParaRPr lang="en-US" sz="2600" dirty="0"/>
          </a:p>
        </p:txBody>
      </p:sp>
      <p:sp>
        <p:nvSpPr>
          <p:cNvPr id="31" name="Text 25"/>
          <p:cNvSpPr txBox="1"/>
          <p:nvPr/>
        </p:nvSpPr>
        <p:spPr>
          <a:xfrm>
            <a:off x="5381767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Walnut Technologies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381767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Engineering expands beyond healthcare into electronics for every industry.</a:t>
            </a:r>
            <a:endParaRPr lang="en-US" sz="1200" dirty="0"/>
          </a:p>
        </p:txBody>
      </p:sp>
      <p:pic>
        <p:nvPicPr>
          <p:cNvPr id="33" name="Image 4" descr="Walnut payment soundbox on a shop coun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809" y="1508760"/>
            <a:ext cx="1428162" cy="164592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992809" y="1508760"/>
            <a:ext cx="1428162" cy="1645920"/>
          </a:xfrm>
          <a:prstGeom prst="roundRect">
            <a:avLst>
              <a:gd name="adj" fmla="val 5122"/>
            </a:avLst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706890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588018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6992809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2022</a:t>
            </a:r>
            <a:endParaRPr lang="en-US" sz="2600" dirty="0"/>
          </a:p>
        </p:txBody>
      </p:sp>
      <p:sp>
        <p:nvSpPr>
          <p:cNvPr id="38" name="Text 31"/>
          <p:cNvSpPr txBox="1"/>
          <p:nvPr/>
        </p:nvSpPr>
        <p:spPr>
          <a:xfrm>
            <a:off x="6992809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Fintech · soundbox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6992809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Smart payment soundboxes and POS devices, in mass production from 2023.</a:t>
            </a:r>
            <a:endParaRPr lang="en-US" sz="1200" dirty="0"/>
          </a:p>
        </p:txBody>
      </p:sp>
      <p:pic>
        <p:nvPicPr>
          <p:cNvPr id="40" name="Image 5" descr="Smart instrument clus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851" y="1508760"/>
            <a:ext cx="1428162" cy="164592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8603851" y="1508760"/>
            <a:ext cx="1428162" cy="1645920"/>
          </a:xfrm>
          <a:prstGeom prst="roundRect">
            <a:avLst>
              <a:gd name="adj" fmla="val 5122"/>
            </a:avLst>
          </a:prstGeom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9317932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9199060" y="3419856"/>
            <a:ext cx="237744" cy="23774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8603851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2025</a:t>
            </a:r>
            <a:endParaRPr lang="en-US" sz="2600" dirty="0"/>
          </a:p>
        </p:txBody>
      </p:sp>
      <p:sp>
        <p:nvSpPr>
          <p:cNvPr id="45" name="Text 37"/>
          <p:cNvSpPr txBox="1"/>
          <p:nvPr/>
        </p:nvSpPr>
        <p:spPr>
          <a:xfrm>
            <a:off x="8603851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Smart clusters</a:t>
            </a:r>
            <a:endParaRPr lang="en-US" sz="1400" dirty="0"/>
          </a:p>
        </p:txBody>
      </p:sp>
      <p:sp>
        <p:nvSpPr>
          <p:cNvPr id="46" name="Text 38"/>
          <p:cNvSpPr txBox="1"/>
          <p:nvPr/>
        </p:nvSpPr>
        <p:spPr>
          <a:xfrm>
            <a:off x="8603851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5″ and 7″ smart clusters for 2-wheelers, tractors and vehicles.</a:t>
            </a:r>
            <a:endParaRPr lang="en-US" sz="1200" dirty="0"/>
          </a:p>
        </p:txBody>
      </p:sp>
      <p:pic>
        <p:nvPicPr>
          <p:cNvPr id="47" name="Image 6" descr="Walnut GPS trac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4893" y="1508760"/>
            <a:ext cx="1428162" cy="1645920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10214893" y="1508760"/>
            <a:ext cx="1428162" cy="1645920"/>
          </a:xfrm>
          <a:prstGeom prst="roundRect">
            <a:avLst>
              <a:gd name="adj" fmla="val 5122"/>
            </a:avLst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0928974" y="3154680"/>
            <a:ext cx="0" cy="38404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10810102" y="3419856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10214893" y="3813048"/>
            <a:ext cx="1428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2026</a:t>
            </a:r>
            <a:endParaRPr lang="en-US" sz="2600" dirty="0"/>
          </a:p>
        </p:txBody>
      </p:sp>
      <p:sp>
        <p:nvSpPr>
          <p:cNvPr id="52" name="Text 43"/>
          <p:cNvSpPr txBox="1"/>
          <p:nvPr/>
        </p:nvSpPr>
        <p:spPr>
          <a:xfrm>
            <a:off x="10214893" y="4315968"/>
            <a:ext cx="1428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GPS tracker &amp; IoT</a:t>
            </a:r>
            <a:endParaRPr lang="en-US" sz="1400" dirty="0"/>
          </a:p>
        </p:txBody>
      </p:sp>
      <p:sp>
        <p:nvSpPr>
          <p:cNvPr id="53" name="Text 44"/>
          <p:cNvSpPr txBox="1"/>
          <p:nvPr/>
        </p:nvSpPr>
        <p:spPr>
          <a:xfrm>
            <a:off x="10214893" y="4956048"/>
            <a:ext cx="142816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GPS tracker &amp; gateway and a growing range of connected IoT devices.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5"/>
                </a:solidFill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8803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Infrastructure &amp; manufacturing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3434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In-house electronics design, SMT, testing and quality — from prototype to 500K+ units a month.</a:t>
            </a:r>
            <a:endParaRPr lang="en-US" sz="1800" dirty="0"/>
          </a:p>
        </p:txBody>
      </p:sp>
      <p:pic>
        <p:nvPicPr>
          <p:cNvPr id="5" name="Image 0" descr="C:\Users\Abcom\Documents\Walnut\catalog\source\assets\cache\real-line-1228x1650-cover-0-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0"/>
            <a:ext cx="51050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03 · INFRASTRUCTURE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Manufacturing infrastructure</a:t>
            </a:r>
            <a:endParaRPr lang="en-US" sz="3200" dirty="0"/>
          </a:p>
        </p:txBody>
      </p:sp>
      <p:pic>
        <p:nvPicPr>
          <p:cNvPr id="4" name="Image 0" descr="Production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737360" cy="2125980"/>
          </a:xfrm>
          <a:prstGeom prst="rect">
            <a:avLst/>
          </a:prstGeom>
        </p:spPr>
      </p:pic>
      <p:pic>
        <p:nvPicPr>
          <p:cNvPr id="5" name="Image 1" descr="SMT 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00200"/>
            <a:ext cx="1737360" cy="2125980"/>
          </a:xfrm>
          <a:prstGeom prst="rect">
            <a:avLst/>
          </a:prstGeom>
        </p:spPr>
      </p:pic>
      <p:pic>
        <p:nvPicPr>
          <p:cNvPr id="6" name="Image 2" descr="Precision rewo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1737360" cy="2125980"/>
          </a:xfrm>
          <a:prstGeom prst="rect">
            <a:avLst/>
          </a:prstGeom>
        </p:spPr>
      </p:pic>
      <p:pic>
        <p:nvPicPr>
          <p:cNvPr id="7" name="Image 3" descr="Environmental tes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63340"/>
            <a:ext cx="1737360" cy="2125980"/>
          </a:xfrm>
          <a:prstGeom prst="rect">
            <a:avLst/>
          </a:prstGeom>
        </p:spPr>
      </p:pic>
      <p:pic>
        <p:nvPicPr>
          <p:cNvPr id="8" name="Image 4" descr="Functional test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3863340"/>
            <a:ext cx="1737360" cy="2125980"/>
          </a:xfrm>
          <a:prstGeom prst="rect">
            <a:avLst/>
          </a:prstGeom>
        </p:spPr>
      </p:pic>
      <p:pic>
        <p:nvPicPr>
          <p:cNvPr id="9" name="Image 5" descr="Packing and dispat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863340"/>
            <a:ext cx="1737360" cy="212598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6355080" y="162763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6" descr="C:\Users\Abcom\Documents\Walnut\catalog\source\assets\icons\FiHome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835" y="1726387"/>
            <a:ext cx="168250" cy="168250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6922008" y="160934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150,000 sq. ft facility</a:t>
            </a:r>
            <a:endParaRPr lang="en-US" sz="1500" dirty="0"/>
          </a:p>
        </p:txBody>
      </p:sp>
      <p:sp>
        <p:nvSpPr>
          <p:cNvPr id="13" name="Text 4"/>
          <p:cNvSpPr txBox="1"/>
          <p:nvPr/>
        </p:nvSpPr>
        <p:spPr>
          <a:xfrm>
            <a:off x="6922008" y="190195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Mohali · AMTZ · Dhanana (Upcoming in Haryana)</a:t>
            </a:r>
            <a:endParaRPr lang="en-US" sz="1300" dirty="0"/>
          </a:p>
        </p:txBody>
      </p:sp>
      <p:sp>
        <p:nvSpPr>
          <p:cNvPr id="14" name="Shape 5"/>
          <p:cNvSpPr/>
          <p:nvPr/>
        </p:nvSpPr>
        <p:spPr>
          <a:xfrm>
            <a:off x="6355080" y="235915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7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835" y="2457907"/>
            <a:ext cx="168250" cy="16825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6922008" y="234086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 SMT production lines</a:t>
            </a:r>
            <a:endParaRPr lang="en-US" sz="1500" dirty="0"/>
          </a:p>
        </p:txBody>
      </p:sp>
      <p:sp>
        <p:nvSpPr>
          <p:cNvPr id="17" name="Text 7"/>
          <p:cNvSpPr txBox="1"/>
          <p:nvPr/>
        </p:nvSpPr>
        <p:spPr>
          <a:xfrm>
            <a:off x="6922008" y="263347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Fully automatic SMT — JUKI RS-1, FUJI, 200,000 CPH</a:t>
            </a:r>
            <a:endParaRPr lang="en-US" sz="1300" dirty="0"/>
          </a:p>
        </p:txBody>
      </p:sp>
      <p:sp>
        <p:nvSpPr>
          <p:cNvPr id="18" name="Shape 8"/>
          <p:cNvSpPr/>
          <p:nvPr/>
        </p:nvSpPr>
        <p:spPr>
          <a:xfrm>
            <a:off x="6355080" y="309067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8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835" y="3189427"/>
            <a:ext cx="168250" cy="168250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6922008" y="307238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In-house test &amp; calibration</a:t>
            </a:r>
            <a:endParaRPr lang="en-US" sz="1500" dirty="0"/>
          </a:p>
        </p:txBody>
      </p:sp>
      <p:sp>
        <p:nvSpPr>
          <p:cNvPr id="21" name="Text 10"/>
          <p:cNvSpPr txBox="1"/>
          <p:nvPr/>
        </p:nvSpPr>
        <p:spPr>
          <a:xfrm>
            <a:off x="6922008" y="336499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Keysight · National Instruments · Rigol · Tektronix</a:t>
            </a:r>
            <a:endParaRPr lang="en-US" sz="1300" dirty="0"/>
          </a:p>
        </p:txBody>
      </p:sp>
      <p:sp>
        <p:nvSpPr>
          <p:cNvPr id="22" name="Shape 11"/>
          <p:cNvSpPr/>
          <p:nvPr/>
        </p:nvSpPr>
        <p:spPr>
          <a:xfrm>
            <a:off x="6355080" y="382219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mage 9" descr="C:\Users\Abcom\Documents\Walnut\catalog\source\assets\icons\FiLayers-l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3835" y="3920947"/>
            <a:ext cx="168250" cy="16825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922008" y="380390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PCB design to production</a:t>
            </a:r>
            <a:endParaRPr lang="en-US" sz="1500" dirty="0"/>
          </a:p>
        </p:txBody>
      </p:sp>
      <p:sp>
        <p:nvSpPr>
          <p:cNvPr id="25" name="Text 13"/>
          <p:cNvSpPr txBox="1"/>
          <p:nvPr/>
        </p:nvSpPr>
        <p:spPr>
          <a:xfrm>
            <a:off x="6922008" y="409651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Design, validation, prototyping, pilot lots, full scale</a:t>
            </a:r>
            <a:endParaRPr lang="en-US" sz="1300" dirty="0"/>
          </a:p>
        </p:txBody>
      </p:sp>
      <p:sp>
        <p:nvSpPr>
          <p:cNvPr id="26" name="Shape 14"/>
          <p:cNvSpPr/>
          <p:nvPr/>
        </p:nvSpPr>
        <p:spPr>
          <a:xfrm>
            <a:off x="6355080" y="455371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10" descr="C:\Users\Abcom\Documents\Walnut\catalog\source\assets\icons\FiCheckCircle-l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3835" y="4652467"/>
            <a:ext cx="168250" cy="16825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6922008" y="453542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IQC · LQC · OQC quality teams</a:t>
            </a:r>
            <a:endParaRPr lang="en-US" sz="1500" dirty="0"/>
          </a:p>
        </p:txBody>
      </p:sp>
      <p:sp>
        <p:nvSpPr>
          <p:cNvPr id="29" name="Text 16"/>
          <p:cNvSpPr txBox="1"/>
          <p:nvPr/>
        </p:nvSpPr>
        <p:spPr>
          <a:xfrm>
            <a:off x="6922008" y="482803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Inspection at incoming, line and outgoing stages</a:t>
            </a:r>
            <a:endParaRPr lang="en-US" sz="1300" dirty="0"/>
          </a:p>
        </p:txBody>
      </p:sp>
      <p:sp>
        <p:nvSpPr>
          <p:cNvPr id="30" name="Shape 17"/>
          <p:cNvSpPr/>
          <p:nvPr/>
        </p:nvSpPr>
        <p:spPr>
          <a:xfrm>
            <a:off x="6355080" y="5285232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mage 11" descr="C:\Users\Abcom\Documents\Walnut\catalog\source\assets\icons\FiBox-l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3835" y="5383987"/>
            <a:ext cx="168250" cy="16825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6922008" y="5266944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Moulds &amp; injection moulding</a:t>
            </a:r>
            <a:endParaRPr lang="en-US" sz="1500" dirty="0"/>
          </a:p>
        </p:txBody>
      </p:sp>
      <p:sp>
        <p:nvSpPr>
          <p:cNvPr id="33" name="Text 19"/>
          <p:cNvSpPr txBox="1"/>
          <p:nvPr/>
        </p:nvSpPr>
        <p:spPr>
          <a:xfrm>
            <a:off x="6922008" y="555955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Mass-production mould design and plastics in-house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03 · HOW WE WORK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End-to-End Production Process</a:t>
            </a:r>
            <a:endParaRPr lang="en-US" sz="3200" dirty="0"/>
          </a:p>
        </p:txBody>
      </p:sp>
      <p:pic>
        <p:nvPicPr>
          <p:cNvPr id="4" name="Image 0" descr="Idea &amp; Requir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057949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Idea &amp; Requirement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Clear direction</a:t>
            </a:r>
            <a:endParaRPr lang="en-US" sz="1200" dirty="0"/>
          </a:p>
        </p:txBody>
      </p:sp>
      <p:pic>
        <p:nvPicPr>
          <p:cNvPr id="8" name="Image 1" descr="Research &amp; Market Analys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757" y="1554480"/>
            <a:ext cx="2057949" cy="1188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07757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219237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Research &amp; Market Analysis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219237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Right opportunity</a:t>
            </a:r>
            <a:endParaRPr lang="en-US" sz="1200" dirty="0"/>
          </a:p>
        </p:txBody>
      </p:sp>
      <p:pic>
        <p:nvPicPr>
          <p:cNvPr id="12" name="Image 2" descr="Design &amp; Enginee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873" y="1554480"/>
            <a:ext cx="2057949" cy="11887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66873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478353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Design &amp; Engineering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78353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Optimized design</a:t>
            </a:r>
            <a:endParaRPr lang="en-US" sz="1200" dirty="0"/>
          </a:p>
        </p:txBody>
      </p:sp>
      <p:pic>
        <p:nvPicPr>
          <p:cNvPr id="16" name="Image 3" descr="Prototype Develop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990" y="1554480"/>
            <a:ext cx="2057949" cy="11887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2599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737470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Prototype Development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737470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Working prototype</a:t>
            </a:r>
            <a:endParaRPr lang="en-US" sz="1200" dirty="0"/>
          </a:p>
        </p:txBody>
      </p:sp>
      <p:pic>
        <p:nvPicPr>
          <p:cNvPr id="20" name="Image 4" descr="Validation &amp; Test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107" y="1554480"/>
            <a:ext cx="2057949" cy="11887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85107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05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9996587" y="285292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Validation &amp; Testing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9996587" y="336499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Validated performance</a:t>
            </a:r>
            <a:endParaRPr lang="en-US" sz="1200" dirty="0"/>
          </a:p>
        </p:txBody>
      </p:sp>
      <p:pic>
        <p:nvPicPr>
          <p:cNvPr id="24" name="Image 5" descr="Manufacturing Engineer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886200"/>
            <a:ext cx="2057949" cy="11887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06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960120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Manufacturing Engineering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960120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Production ready</a:t>
            </a:r>
            <a:endParaRPr lang="en-US" sz="1200" dirty="0"/>
          </a:p>
        </p:txBody>
      </p:sp>
      <p:pic>
        <p:nvPicPr>
          <p:cNvPr id="28" name="Image 6" descr="Quality Assuran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7757" y="3886200"/>
            <a:ext cx="2057949" cy="11887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807757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07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3219237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Quality Assurance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3219237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Zero-defect mindset</a:t>
            </a:r>
            <a:endParaRPr lang="en-US" sz="1200" dirty="0"/>
          </a:p>
        </p:txBody>
      </p:sp>
      <p:pic>
        <p:nvPicPr>
          <p:cNvPr id="32" name="Image 7" descr="Packaging &amp; Dispatc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6873" y="3886200"/>
            <a:ext cx="2057949" cy="11887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066873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08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5478353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Packaging &amp; Dispatch</a:t>
            </a:r>
            <a:endParaRPr lang="en-US" sz="1400" dirty="0"/>
          </a:p>
        </p:txBody>
      </p:sp>
      <p:sp>
        <p:nvSpPr>
          <p:cNvPr id="35" name="Text 25"/>
          <p:cNvSpPr txBox="1"/>
          <p:nvPr/>
        </p:nvSpPr>
        <p:spPr>
          <a:xfrm>
            <a:off x="5478353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Safe, on-time delivery</a:t>
            </a:r>
            <a:endParaRPr lang="en-US" sz="1200" dirty="0"/>
          </a:p>
        </p:txBody>
      </p:sp>
      <p:pic>
        <p:nvPicPr>
          <p:cNvPr id="36" name="Image 8" descr="After-Sales Suppor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5990" y="3886200"/>
            <a:ext cx="2057949" cy="11887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325990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09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7737470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After-Sales Support</a:t>
            </a:r>
            <a:endParaRPr lang="en-US" sz="1400" dirty="0"/>
          </a:p>
        </p:txBody>
      </p:sp>
      <p:sp>
        <p:nvSpPr>
          <p:cNvPr id="39" name="Text 28"/>
          <p:cNvSpPr txBox="1"/>
          <p:nvPr/>
        </p:nvSpPr>
        <p:spPr>
          <a:xfrm>
            <a:off x="7737470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Reliable support</a:t>
            </a:r>
            <a:endParaRPr lang="en-US" sz="1200" dirty="0"/>
          </a:p>
        </p:txBody>
      </p:sp>
      <p:pic>
        <p:nvPicPr>
          <p:cNvPr id="40" name="Image 9" descr="Continuous Improvemen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5107" y="3886200"/>
            <a:ext cx="2057949" cy="118872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585107" y="5184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10</a:t>
            </a:r>
            <a:endParaRPr lang="en-US" sz="1500" dirty="0"/>
          </a:p>
        </p:txBody>
      </p:sp>
      <p:sp>
        <p:nvSpPr>
          <p:cNvPr id="42" name="Text 30"/>
          <p:cNvSpPr txBox="1"/>
          <p:nvPr/>
        </p:nvSpPr>
        <p:spPr>
          <a:xfrm>
            <a:off x="9996587" y="5184648"/>
            <a:ext cx="16464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Continuous Improvement</a:t>
            </a:r>
            <a:endParaRPr lang="en-US" sz="1400" dirty="0"/>
          </a:p>
        </p:txBody>
      </p:sp>
      <p:sp>
        <p:nvSpPr>
          <p:cNvPr id="43" name="Text 31"/>
          <p:cNvSpPr txBox="1"/>
          <p:nvPr/>
        </p:nvSpPr>
        <p:spPr>
          <a:xfrm>
            <a:off x="9996587" y="5696712"/>
            <a:ext cx="1646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Better every day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03 · QUALITY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&amp; certifications</a:t>
            </a:r>
            <a:endParaRPr lang="en-US" sz="3200" dirty="0"/>
          </a:p>
        </p:txBody>
      </p:sp>
      <p:pic>
        <p:nvPicPr>
          <p:cNvPr id="4" name="Image 0" descr="Environmental test chamber at Waln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93192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0" y="1600200"/>
            <a:ext cx="3306928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4983480" y="181965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83480" y="1819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ISO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801368"/>
            <a:ext cx="211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ISO 13485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2130552"/>
            <a:ext cx="211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Quality management for medical devices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36128" y="1600200"/>
            <a:ext cx="3306928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8564728" y="181965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64728" y="1819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4.0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87688" y="1801368"/>
            <a:ext cx="211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Industry 4.0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387688" y="2130552"/>
            <a:ext cx="211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Connected, data-driven production with traceability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2880360"/>
            <a:ext cx="3306928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4983480" y="309981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83480" y="3099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06440" y="3081528"/>
            <a:ext cx="211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 · FCC · PCI-DSS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3410712"/>
            <a:ext cx="211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European, US and payment-security standards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36128" y="2880360"/>
            <a:ext cx="3306928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8564728" y="309981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64728" y="3099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IEC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387688" y="3081528"/>
            <a:ext cx="211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IEC 60601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387688" y="3410712"/>
            <a:ext cx="211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Medical electrical equipment safety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54880" y="4160520"/>
            <a:ext cx="3306928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26" name="Shape 23"/>
          <p:cNvSpPr/>
          <p:nvPr/>
        </p:nvSpPr>
        <p:spPr>
          <a:xfrm>
            <a:off x="4983480" y="437997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983480" y="4379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BIS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806440" y="4361688"/>
            <a:ext cx="211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BIS certified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06440" y="4690872"/>
            <a:ext cx="211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Bureau of Indian Standards compliance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336128" y="4160520"/>
            <a:ext cx="3306928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31" name="Shape 28"/>
          <p:cNvSpPr/>
          <p:nvPr/>
        </p:nvSpPr>
        <p:spPr>
          <a:xfrm>
            <a:off x="8564728" y="4379976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1111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564728" y="4379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QA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387688" y="4361688"/>
            <a:ext cx="2118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IQC · LQC · OQC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387688" y="4690872"/>
            <a:ext cx="2118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Inspection at incoming, line and outgoing stages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754880" y="5440680"/>
            <a:ext cx="6888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Compliances: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ISO 13485, ISO 80601-2-69, IEC 60601-1, IEC 60601-1-2 (NABL-accredited labs), CE, FCC, RoHS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5"/>
                </a:solidFill>
              </a:rPr>
              <a:t>04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8803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Automotive electronics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3434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Smart instrument clusters in 5-inch and 7-inch, with Google Maps navigation through phone screen mirroring.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0"/>
            <a:ext cx="51050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C:\Users\Abcom\Documents\Walnut\catalog\source\assets\cache\j-cluster-maps-1008x1298-contain-0-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731520"/>
            <a:ext cx="41906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AUTOMOTIVE ELECTRONICS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Smart instrument clusters</a:t>
            </a:r>
            <a:endParaRPr lang="en-US" sz="3200" dirty="0"/>
          </a:p>
        </p:txBody>
      </p:sp>
      <p:pic>
        <p:nvPicPr>
          <p:cNvPr id="4" name="Image 0" descr="Walnut 5-inch and 7-inch smart clus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852160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20840" y="1600200"/>
            <a:ext cx="4919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Next-generation digital clusters with high-resolution displays, real-time vehicle data and customisable driver interfaces — built for durability and clarity.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720840" y="2926080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1" descr="C:\Users\Abcom\Documents\Walnut\catalog\source\assets\icons\FiMaximiz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533" y="3029773"/>
            <a:ext cx="176662" cy="1766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06056" y="2907792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5-inch and 7-inch displays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306056" y="320040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Two sizes to suit compact and full-size dashboards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720840" y="367588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2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533" y="3779581"/>
            <a:ext cx="176662" cy="1766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06056" y="365760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Android and RTOS based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306056" y="395020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Smart and cost-optimised platform options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720840" y="4425696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3" descr="C:\Users\Abcom\Documents\Walnut\catalog\source\assets\icons\FiWifi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533" y="4529389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06056" y="440740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4G · Bluetooth · Wi-Fi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306056" y="470001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Connected cluster with phone screen mirroring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72084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BUILT FOR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720840" y="5577840"/>
            <a:ext cx="1192378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720840" y="5577840"/>
            <a:ext cx="1192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2-wheelers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022946" y="5577840"/>
            <a:ext cx="2542032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022946" y="5577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Tractors &amp; farm equipment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720840" y="6016752"/>
            <a:ext cx="1102401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720840" y="6016752"/>
            <a:ext cx="11024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LMV &amp; HMV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CLUSTER OPTIONS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Choose your size: 5-inch or 7-inch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154680" cy="438912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pic>
        <p:nvPicPr>
          <p:cNvPr id="5" name="Image 0" descr="5″ smart instrument clu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937" y="3427631"/>
            <a:ext cx="1992086" cy="15101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51206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5″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5257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5-inch display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5559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Smart instrument cluster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1600200"/>
            <a:ext cx="3154680" cy="438912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pic>
        <p:nvPicPr>
          <p:cNvPr id="10" name="Image 1" descr="7″ smart instrument clu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823579"/>
            <a:ext cx="2788920" cy="21141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51206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7″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5257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7-inch display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5559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Smart instrument cluster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1600200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Configuration options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103120"/>
          <a:ext cx="4144975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6362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Display size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5-inch  ·  7-inch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Platform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RTOS  ·  Android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Connectivity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4G  ·  Bluetooth  ·  Wi-Fi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Navigation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Phone screen mirroring — Google Maps on the cluster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Interface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Custom layouts, themes and brand integration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Vehicle data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Real-time speed, RPM, fuel, temperature, diagnostics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7498080" y="5623560"/>
            <a:ext cx="4144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Clusters shown at relative scale. Final specifications and combinations are confirmed per project; datasheets on request.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PHONE SCREEN MIRRORING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Google maps capture on non-andriod cluster</a:t>
            </a:r>
            <a:endParaRPr lang="en-US" sz="3200" dirty="0"/>
          </a:p>
        </p:txBody>
      </p:sp>
      <p:pic>
        <p:nvPicPr>
          <p:cNvPr id="4" name="Image 0" descr="Phone showing Google Maps navig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00200"/>
            <a:ext cx="1637071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87368" y="278892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1" descr="C:\Users\Abcom\Documents\Walnut\catalog\source\assets\icons\FiCas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534" y="2974086"/>
            <a:ext cx="315468" cy="3154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17520" y="3136392"/>
            <a:ext cx="9601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>
            <a:off x="4882896" y="3136392"/>
            <a:ext cx="9601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dash"/>
            <a:tailEnd type="triangle"/>
          </a:ln>
        </p:spPr>
      </p:sp>
      <p:pic>
        <p:nvPicPr>
          <p:cNvPr id="9" name="Image 2" descr="Cluster displaying mirrored Google Maps navig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4523362" cy="3429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523036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3" descr="C:\Users\Abcom\Documents\Walnut\catalog\source\assets\icons\FiNavigation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5334061"/>
            <a:ext cx="176662" cy="17666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15568" y="5212080"/>
            <a:ext cx="294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Turn-by-turn on the dash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115568" y="5486400"/>
            <a:ext cx="2948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Google Maps navigation from the rider's phone appears on the cluster screen.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338218" y="523036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4" descr="C:\Users\Abcom\Documents\Walnut\catalog\source\assets\icons\FiEye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911" y="5334061"/>
            <a:ext cx="176662" cy="17666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05146" y="5212080"/>
            <a:ext cx="294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Eyes stay on the road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4905146" y="5486400"/>
            <a:ext cx="2948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Directions sit in the driver’s line of sight — no phone on the handlebar or dashboard.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8127797" y="523036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5" descr="C:\Users\Abcom\Documents\Walnut\catalog\source\assets\icons\FiSmartphone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1490" y="5334061"/>
            <a:ext cx="176662" cy="17666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694725" y="5212080"/>
            <a:ext cx="2948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Works with your phone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8694725" y="5486400"/>
            <a:ext cx="2948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Pair over the cluster’s wireless connectivity and start navigating.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</a:rPr>
              <a:t>04 · CLUSTER FEATURES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Engineered for the road and the field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01168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Image 0" descr="C:\Users\Abcom\Documents\Walnut\catalog\source\assets\icons\FiMonitor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04368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514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High-resolution display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9864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Crystal-clear visuals for real-time vehicle data; anti-glare, wide viewing angles, sunlight readable.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8218" y="1600200"/>
            <a:ext cx="3515258" cy="201168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10" name="Shape 7"/>
          <p:cNvSpPr/>
          <p:nvPr/>
        </p:nvSpPr>
        <p:spPr>
          <a:xfrm>
            <a:off x="4658258" y="19202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mage 1" descr="C:\Users\Abcom\Documents\Walnut\catalog\source\assets\icons\FiCpu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702" y="204368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8258" y="2514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Advanced processing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58258" y="289864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Multiple data streams processed simultaneously for instant driver feedback.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27797" y="1600200"/>
            <a:ext cx="3515258" cy="201168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7837" y="19202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6" name="Image 2" descr="C:\Users\Abcom\Documents\Walnut\catalog\source\assets\icons\FiZap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281" y="20436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47837" y="2514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Low power consumption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47837" y="289864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Energy-efficient design for extended vehicle battery life.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15258" cy="201168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1" name="Image 3" descr="C:\Users\Abcom\Documents\Walnut\catalog\source\assets\icons\FiShield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32968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4800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Rugged build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18464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Industrial-grade components for harsh environments.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38218" y="3886200"/>
            <a:ext cx="3515258" cy="201168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58258" y="42062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6" name="Image 4" descr="C:\Users\Abcom\Documents\Walnut\catalog\source\assets\icons\FiSettings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702" y="432968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58258" y="4800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Customisable interface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58258" y="518464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Configurable layouts and themes for different vehicles and brands.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27797" y="3886200"/>
            <a:ext cx="3515258" cy="201168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/>
        </p:spPr>
      </p:sp>
      <p:sp>
        <p:nvSpPr>
          <p:cNvPr id="30" name="Shape 23"/>
          <p:cNvSpPr/>
          <p:nvPr/>
        </p:nvSpPr>
        <p:spPr>
          <a:xfrm>
            <a:off x="8447837" y="42062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1" name="Image 5" descr="C:\Users\Abcom\Documents\Walnut\catalog\source\assets\icons\FiThermometer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281" y="4329684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47837" y="4800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Temperature resistant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447837" y="5184648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Operating range from −40 °C to +85 °C for all climates.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CAPABILITIES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Automotive engineering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92808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Display technology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High-brightness LCD/TFT displays with anti-glare coating and wide viewing angles.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01752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LCD/TFT   ·   Anti-glare   ·   Sunlight readable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600200"/>
            <a:ext cx="541004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193128" y="1892808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Real-time data processing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93128" y="2286000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Speed, RPM, fuel, temperature and diagnostics handled simultaneously.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301752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CAN bus support   ·   Diagnostics   ·   Instant updates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1004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78808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 design &amp; engineering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572000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Clusters designed to your vehicle specifications, brand identity and functions.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30352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Custom layouts   ·   Brand integration   ·   DFM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3886200"/>
            <a:ext cx="5410048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193128" y="4178808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Quality &amp; certification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4572000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Tested for temperature, vibration, humidity and electromagnetic compatibility.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530352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IATF 16949 ready   ·   AEC-Q100   ·   EMC &amp; vibration tested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04 · AGRI &amp; OFF-HIGHWAY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Automatic tractor electronics suite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38912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5" name="Image 0" descr="Walnut smart instrument clu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38912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1600200"/>
            <a:ext cx="5605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complete suite of smart, IoT-enabled electronics for agricultural equipment, earth-moving equipment and tractors.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35040" y="2788920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8" name="Image 1" descr="C:\Users\Abcom\Documents\Walnut\catalog\source\assets\icons\FiMonitor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733" y="2892613"/>
            <a:ext cx="176662" cy="1766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20256" y="2770632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instrument clusters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620256" y="3063240"/>
            <a:ext cx="5020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5″ and 7″ clusters with 4G, Bluetooth and Wi-Fi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3575304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2" descr="C:\Users\Abcom\Documents\Walnut\catalog\source\assets\icons\FiSettings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733" y="3678997"/>
            <a:ext cx="176662" cy="1766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20256" y="3557016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Tractor automation electronics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620256" y="3849624"/>
            <a:ext cx="5020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Electronics for automation of agricultural tractors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035040" y="4361688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3" descr="C:\Users\Abcom\Documents\Walnut\catalog\source\assets\icons\FiMapPin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733" y="4465381"/>
            <a:ext cx="176662" cy="17666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20256" y="4343400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Telematics &amp; tracking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620256" y="4636008"/>
            <a:ext cx="5020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GPS tracker and gateway for fleet visibility in the field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035040" y="5148072"/>
            <a:ext cx="384048" cy="38404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4" descr="C:\Users\Abcom\Documents\Walnut\catalog\source\assets\icons\FiCloud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733" y="5251765"/>
            <a:ext cx="176662" cy="17666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620256" y="5129784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Connected platform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620256" y="5422392"/>
            <a:ext cx="5020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Cloud dashboards, mobile apps and OTA updates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5"/>
                </a:solidFill>
              </a:rPr>
              <a:t>05</a:t>
            </a:r>
            <a:endParaRPr lang="en-US" sz="8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8803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IoT solutions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3434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GPS tracker &amp; gateway, 4G smart lock, connected payment devices and the cloud platform behind them.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0"/>
            <a:ext cx="51050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C:\Users\Abcom\Documents\Walnut\catalog\source\assets\cache\j-tracker-1008x1298-contain-0-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731520"/>
            <a:ext cx="419069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05 · SMART TRACKING | SAFER VEHICLES | SMARTER FLEETS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GPS Tracker WM-MFT-4G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Smart tracking. Total control.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rugged 4G GPS tracker for real-time fleet visibility, smart geo-fencing, and route intelligence — built for tractors, auto-rickshaws, construction equipment, trucks and two-wheelers.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C:\Users\Abcom\Documents\Walnut\catalog\source\assets\icons\FiMapPi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57" y="2334097"/>
            <a:ext cx="159837" cy="1598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22199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Precision GPS tracking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247802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&lt;2.5 m positioning accuracy with continuous round-the-clock vehicle tracking.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7" y="2901025"/>
            <a:ext cx="159837" cy="1598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4128" y="27889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4G LTE CAT-1 connectivity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24128" y="304495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Reliable and seamless real-time data transmission anywhere on the network.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374136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2" descr="C:\Users\Abcom\Documents\Walnut\catalog\source\assets\icons\FiTarget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" y="3467953"/>
            <a:ext cx="159837" cy="1598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24128" y="335584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Smart geo-fencing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24128" y="3611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Customisable virtual boundaries with instant entry and exit alerts.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941064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3" descr="C:\Users\Abcom\Documents\Walnut\catalog\source\assets\icons\FiClock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7" y="4034881"/>
            <a:ext cx="159837" cy="1598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24128" y="3922776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10,000 location history logs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024128" y="417880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Route tracking, trip analysis and complete movement records on demand.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507992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4" descr="C:\Users\Abcom\Documents\Walnut\catalog\source\assets\icons\FiZap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57" y="4601809"/>
            <a:ext cx="159837" cy="15983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24128" y="448970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Ignition intelligence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024128" y="474573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Real-time ACC / engine ignition status monitoring and anti-theft security.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5074920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5" descr="C:\Users\Abcom\Documents\Walnut\catalog\source\assets\icons\FiRefreshCw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57" y="5168737"/>
            <a:ext cx="159837" cy="15983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24128" y="505663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FOTA &amp; SOS support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1024128" y="531266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Remote over-the-air firmware upgrades plus SOS emergency button.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5715000"/>
            <a:ext cx="892454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48640" y="5715000"/>
            <a:ext cx="8924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Tractors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1550822" y="5715000"/>
            <a:ext cx="1342339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550822" y="5715000"/>
            <a:ext cx="13423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Auto-rickshaws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002890" y="5715000"/>
            <a:ext cx="1192378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3002890" y="5715000"/>
            <a:ext cx="1192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Construction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304995" y="5715000"/>
            <a:ext cx="742493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4304995" y="5715000"/>
            <a:ext cx="7424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Trucks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157216" y="5715000"/>
            <a:ext cx="1192378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157216" y="5715000"/>
            <a:ext cx="1192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Two-wheelers</a:t>
            </a:r>
            <a:endParaRPr lang="en-US" sz="1000" dirty="0"/>
          </a:p>
        </p:txBody>
      </p:sp>
      <p:pic>
        <p:nvPicPr>
          <p:cNvPr id="39" name="Image 6" descr="Walnut WM-MFT-4G GPS Track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1463040"/>
            <a:ext cx="4693615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05 · GPS TRACKER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Technical specifications — WM-MFT-4G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766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166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GNSS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GPS + GLONASS · L1 · 33 tracking channels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&lt;2.5 m CEP · tracking −167 dBm · acquisition −149 dBm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TTFF (open sky)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Hot start &lt;5 s · cold start &lt;40 s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Cellular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LTE CAT-1 4G module · Nano-SIM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Power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9–90 V DC input · 60 mAh / 3.7 V battery · battery backup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Interface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1 ignition input · 1 output (CAN optional) · LED: GNSS blue, cellular green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Physical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82.5 × 38.5 × 15.0 mm · 50 g · built-in GSM &amp; GNSS antennas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Environment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−20 °C to +70 °C · 5–95% RH, non-condensing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Data storage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Up to 10,000 history logs (as per customer requirement)</a:t>
                      </a:r>
                      <a:endParaRPr lang="en-US" sz="115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508760"/>
            <a:ext cx="4053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tx2"/>
                </a:solidFill>
              </a:rPr>
              <a:t>ADDITIONAL FEATURES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589520" y="18745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8275" y="1973275"/>
            <a:ext cx="168250" cy="1682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92440" y="18562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LBS positioning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21214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Cell-tower (station mode) positioning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589520" y="25603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C:\Users\Abcom\Documents\Walnut\catalog\source\assets\icons\FiTarge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2659075"/>
            <a:ext cx="168250" cy="16825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92440" y="25420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Geo-fence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092440" y="28072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Optional customisable boundaries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589520" y="32461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C:\Users\Abcom\Documents\Walnut\catalog\source\assets\icons\FiRefreshCw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75" y="3344875"/>
            <a:ext cx="168250" cy="16825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92440" y="32278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FOTA updates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8092440" y="34930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Firmware-over-the-air upgrades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589520" y="39319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mage 3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275" y="4030675"/>
            <a:ext cx="168250" cy="16825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92440" y="39136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CAN optional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8092440" y="41788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For diagnostics or data exchange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589520" y="46177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mage 4" descr="C:\Users\Abcom\Documents\Walnut\catalog\source\assets\icons\FiServer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275" y="4716475"/>
            <a:ext cx="168250" cy="16825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092440" y="45994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Protocol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8092440" y="48646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TCP (server based) and MQTT, customisable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7589520" y="5303520"/>
            <a:ext cx="365760" cy="3657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7" name="Image 5" descr="C:\Users\Abcom\Documents\Walnut\catalog\source\assets\icons\FiAlertTriangle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8275" y="5402275"/>
            <a:ext cx="168250" cy="16825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092440" y="528523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SOS button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8092440" y="5550408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Enhanced safety in critical situations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05 · MULTI-SENSOR ASSET TRACKING &amp; TELEMETRY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GPS gateway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Reliable GPS gateway for industrial and logistics applications — multi-sensor monitoring, real-time tracking, telemetry reporting, and fleet management with secure cloud connectivity.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mage 0" descr="C:\Users\Abcom\Documents\Walnut\catalog\source\assets\icons\FiBattery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457" y="2425537"/>
            <a:ext cx="159837" cy="1598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313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200 mAh battery backup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6060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Internal backup battery ensures continuous telemetry transmission even if main power is disconnected.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44952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57" y="3138769"/>
            <a:ext cx="159837" cy="1598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026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Bluetooth &amp; GPS connectivity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33192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Dual wireless interfaces: precise GNSS location combined with BLE for wireless sensor integration.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58184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4" name="Image 2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" y="3852001"/>
            <a:ext cx="159837" cy="1598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37398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Multi-sensor capability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97280" y="403250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Supports Security sensor, Fuel sensor, Temperature sensor, and Humidity sensor simultaneously.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471416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3" descr="C:\Users\Abcom\Documents\Walnut\catalog\source\assets\icons\FiTrendingUp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7" y="4565233"/>
            <a:ext cx="159837" cy="1598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4453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Sends multiple parameters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097280" y="47457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Transmits all telemetry parameters in real time for smarter, safer, and more efficient fleet operations.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5184648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mage 4" descr="C:\Users\Abcom\Documents\Walnut\catalog\source\assets\icons\FiCloud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57" y="5278465"/>
            <a:ext cx="159837" cy="15983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97280" y="5166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Secure cloud gateway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097280" y="545896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Encrypted cloud communication to fleet dashboards and mobile monitoring applications.</a:t>
            </a:r>
            <a:endParaRPr lang="en-US" sz="1100" dirty="0"/>
          </a:p>
        </p:txBody>
      </p:sp>
      <p:pic>
        <p:nvPicPr>
          <p:cNvPr id="25" name="Image 5" descr="Walnut GPS Gateway Multi-Sensor Solu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463040"/>
            <a:ext cx="5608015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05 · IOT SECURITY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4G smart lock</a:t>
            </a:r>
            <a:endParaRPr lang="en-US" sz="3200" dirty="0"/>
          </a:p>
        </p:txBody>
      </p:sp>
      <p:pic>
        <p:nvPicPr>
          <p:cNvPr id="4" name="Image 0" descr="Walnut 4G smart lock with GPS trac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206240" cy="4389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74920" y="1600200"/>
            <a:ext cx="6565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Connected smart lock for logistics, assets and infrastructure — remote access control, real-time monitoring and cloud management from anywhere.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74920" y="2743200"/>
            <a:ext cx="314690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5303520" y="2962656"/>
            <a:ext cx="429768" cy="4297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8" name="Image 1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557" y="3078693"/>
            <a:ext cx="197693" cy="1976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0" y="2743200"/>
            <a:ext cx="21410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Real-time status monitoring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496148" y="2743200"/>
            <a:ext cx="314690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8724748" y="2962656"/>
            <a:ext cx="429768" cy="4297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2" descr="C:\Users\Abcom\Documents\Walnut\catalog\source\assets\icons\FiShield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785" y="3078693"/>
            <a:ext cx="197693" cy="1976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364828" y="2743200"/>
            <a:ext cx="21410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Industrial-grade IP67 design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074920" y="3794760"/>
            <a:ext cx="314690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5303520" y="4014216"/>
            <a:ext cx="429768" cy="4297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mage 3" descr="C:\Users\Abcom\Documents\Walnut\catalog\source\assets\icons\FiBattery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557" y="4130253"/>
            <a:ext cx="197693" cy="1976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943600" y="3794760"/>
            <a:ext cx="21410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 months standby capability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8496148" y="3794760"/>
            <a:ext cx="314690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9" name="Shape 13"/>
          <p:cNvSpPr/>
          <p:nvPr/>
        </p:nvSpPr>
        <p:spPr>
          <a:xfrm>
            <a:off x="8724748" y="4014216"/>
            <a:ext cx="429768" cy="4297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4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0785" y="4130253"/>
            <a:ext cx="197693" cy="1976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364828" y="3794760"/>
            <a:ext cx="21410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4G · BLE · Wi-Fi connectivity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5074920" y="4846320"/>
            <a:ext cx="314690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3" name="Shape 16"/>
          <p:cNvSpPr/>
          <p:nvPr/>
        </p:nvSpPr>
        <p:spPr>
          <a:xfrm>
            <a:off x="5303520" y="5065776"/>
            <a:ext cx="429768" cy="4297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mage 5" descr="C:\Users\Abcom\Documents\Walnut\catalog\source\assets\icons\FiLock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557" y="5181813"/>
            <a:ext cx="197693" cy="19769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943600" y="4846320"/>
            <a:ext cx="21410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Remote access control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8496148" y="4846320"/>
            <a:ext cx="3146908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7" name="Shape 19"/>
          <p:cNvSpPr/>
          <p:nvPr/>
        </p:nvSpPr>
        <p:spPr>
          <a:xfrm>
            <a:off x="8724748" y="5065776"/>
            <a:ext cx="429768" cy="42976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8" name="Image 6" descr="C:\Users\Abcom\Documents\Walnut\catalog\source\assets\icons\FiCloud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0785" y="5181813"/>
            <a:ext cx="197693" cy="197693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364828" y="4846320"/>
            <a:ext cx="21410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Cloud integration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05 · IOT AT SCALE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Connected payment devices</a:t>
            </a:r>
            <a:endParaRPr lang="en-US" sz="3200" dirty="0"/>
          </a:p>
        </p:txBody>
      </p:sp>
      <p:pic>
        <p:nvPicPr>
          <p:cNvPr id="4" name="Image 0" descr="Walnut payment soundbox r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11094415" cy="2148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3192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42062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1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28" y="4319808"/>
            <a:ext cx="193487" cy="1934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47548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payment soundboxes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102352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BIS-approved soundboxes with 4G/2G, NB-IoT, Bluetooth and Wi-Fi, multi-language audio confirmation and secure integrations.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38218" y="393192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4612538" y="42062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mage 2" descr="C:\Users\Abcom\Documents\Walnut\catalog\source\assets\icons\FiCreditCard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107" y="4319808"/>
            <a:ext cx="193487" cy="1934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12538" y="47548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NFC tap &amp; pay with EMV chip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612538" y="5102352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Contactless and chip-insert payments — launching in 2026.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27797" y="393192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8402117" y="420624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3" descr="C:\Users\Abcom\Documents\Walnut\catalog\source\assets\icons\FiServer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685" y="4319808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02117" y="47548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IoT management platform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402117" y="5102352"/>
            <a:ext cx="29666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SaaS platform for monitoring and managing deployed payment and IoT devices.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05 · CAPABILITIES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IoT engineering,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47088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 design &amp; development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0280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From concept to connected product: hardware, firmware and connectivity.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97180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Hardware   ·   RTOS firmware   ·   Wireless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554480"/>
            <a:ext cx="541004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193128" y="1847088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Security &amp; authentication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93128" y="2240280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End-to-end encryption, secure boot and tamper detection for mission-critical devices.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297180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Encryption   ·   Secure element   ·   Tamper detection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41004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04488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Manufacturing &amp; assembly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97680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 SMT lines and 500K+ units per month with full traceability.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2920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SMT &amp; PCB   ·   RF testing   ·   Firmware flashing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3611880"/>
            <a:ext cx="5410048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193128" y="3904488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Cloud &amp; mobile platforms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4297680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Companion apps and cloud dashboards with real-time analytics.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5029200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Dashboards   ·   Mobile apps   ·   OTA updates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PROTOCOLS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03120" y="5715000"/>
            <a:ext cx="540045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03120" y="5715000"/>
            <a:ext cx="5400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52893" y="5715000"/>
            <a:ext cx="622524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52893" y="5715000"/>
            <a:ext cx="6225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MQTT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85144" y="5715000"/>
            <a:ext cx="705002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85144" y="5715000"/>
            <a:ext cx="7050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HTTPS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9875" y="5715000"/>
            <a:ext cx="622524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99875" y="5715000"/>
            <a:ext cx="6225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FOTA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32126" y="5715000"/>
            <a:ext cx="622524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32126" y="5715000"/>
            <a:ext cx="6225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JSON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4378" y="5715000"/>
            <a:ext cx="622524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64378" y="5715000"/>
            <a:ext cx="6225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RTOS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6629" y="5715000"/>
            <a:ext cx="540045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96629" y="5715000"/>
            <a:ext cx="54004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46402" y="5715000"/>
            <a:ext cx="787481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46402" y="5715000"/>
            <a:ext cx="7874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4G LTE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43611" y="5715000"/>
            <a:ext cx="787481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3611" y="5715000"/>
            <a:ext cx="7874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NB-IoT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06 · CLIENTS &amp; INDUSTRIES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21792"/>
            <a:ext cx="9722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Trusted by leading brands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5" name="Image 0" descr="HDFC 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65" y="1805940"/>
            <a:ext cx="118872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35809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7" name="Image 1" descr="State Bank of Ind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34" y="1805940"/>
            <a:ext cx="1188720" cy="1188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22978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9" name="Image 2" descr="Payt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903" y="1805940"/>
            <a:ext cx="1188720" cy="11887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10148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1" name="Image 3" descr="Bharat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072" y="1805940"/>
            <a:ext cx="1188720" cy="11887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97317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3" name="Image 4" descr="Apoll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670" y="1805940"/>
            <a:ext cx="1111863" cy="118872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9984486" y="1600200"/>
            <a:ext cx="1658569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5" name="Image 5" descr="Indian Arm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1206" y="1805940"/>
            <a:ext cx="1185129" cy="118872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6" descr="C:\Users\Abcom\Documents\Walnut\catalog\source\assets\icons\FiHeart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3826764"/>
            <a:ext cx="210312" cy="21031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207008" y="368503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Healthcare</a:t>
            </a:r>
            <a:endParaRPr lang="en-US" sz="1600" dirty="0"/>
          </a:p>
        </p:txBody>
      </p:sp>
      <p:sp>
        <p:nvSpPr>
          <p:cNvPr id="19" name="Text 10"/>
          <p:cNvSpPr txBox="1"/>
          <p:nvPr/>
        </p:nvSpPr>
        <p:spPr>
          <a:xfrm>
            <a:off x="1207008" y="403250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Hospitals, clinics and medical device companies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4338218" y="37033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1" name="Image 7" descr="C:\Users\Abcom\Documents\Walnut\catalog\source\assets\icons\FiShield-l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1662" y="3826764"/>
            <a:ext cx="210312" cy="21031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996586" y="368503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Defence &amp; aerospace</a:t>
            </a:r>
            <a:endParaRPr lang="en-US" sz="1600" dirty="0"/>
          </a:p>
        </p:txBody>
      </p:sp>
      <p:sp>
        <p:nvSpPr>
          <p:cNvPr id="23" name="Text 13"/>
          <p:cNvSpPr txBox="1"/>
          <p:nvPr/>
        </p:nvSpPr>
        <p:spPr>
          <a:xfrm>
            <a:off x="4996586" y="403250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Mission-critical electronics for defence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8127797" y="37033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8" descr="C:\Users\Abcom\Documents\Walnut\catalog\source\assets\icons\FiCreditCard-l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1241" y="3826764"/>
            <a:ext cx="210312" cy="21031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786165" y="368503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Banking &amp; payments</a:t>
            </a:r>
            <a:endParaRPr lang="en-US" sz="1600" dirty="0"/>
          </a:p>
        </p:txBody>
      </p:sp>
      <p:sp>
        <p:nvSpPr>
          <p:cNvPr id="27" name="Text 16"/>
          <p:cNvSpPr txBox="1"/>
          <p:nvPr/>
        </p:nvSpPr>
        <p:spPr>
          <a:xfrm>
            <a:off x="8786165" y="403250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 terminals, soundboxes and payment devices</a:t>
            </a:r>
            <a:endParaRPr lang="en-US" sz="1300" dirty="0"/>
          </a:p>
        </p:txBody>
      </p:sp>
      <p:sp>
        <p:nvSpPr>
          <p:cNvPr id="28" name="Shape 17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9" name="Image 9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" y="5106924"/>
            <a:ext cx="210312" cy="21031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207008" y="49651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Pharmaceutical</a:t>
            </a:r>
            <a:endParaRPr lang="en-US" sz="1600" dirty="0"/>
          </a:p>
        </p:txBody>
      </p:sp>
      <p:sp>
        <p:nvSpPr>
          <p:cNvPr id="31" name="Text 19"/>
          <p:cNvSpPr txBox="1"/>
          <p:nvPr/>
        </p:nvSpPr>
        <p:spPr>
          <a:xfrm>
            <a:off x="1207008" y="531266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Manufacturing equipment and monitoring systems</a:t>
            </a:r>
            <a:endParaRPr lang="en-US" sz="1300" dirty="0"/>
          </a:p>
        </p:txBody>
      </p:sp>
      <p:sp>
        <p:nvSpPr>
          <p:cNvPr id="32" name="Shape 20"/>
          <p:cNvSpPr/>
          <p:nvPr/>
        </p:nvSpPr>
        <p:spPr>
          <a:xfrm>
            <a:off x="4338218" y="49834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3" name="Image 10" descr="C:\Users\Abcom\Documents\Walnut\catalog\source\assets\icons\FiZap-l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1662" y="5106924"/>
            <a:ext cx="210312" cy="210312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4996586" y="49651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Energy &amp; utilities</a:t>
            </a:r>
            <a:endParaRPr lang="en-US" sz="1600" dirty="0"/>
          </a:p>
        </p:txBody>
      </p:sp>
      <p:sp>
        <p:nvSpPr>
          <p:cNvPr id="35" name="Text 22"/>
          <p:cNvSpPr txBox="1"/>
          <p:nvPr/>
        </p:nvSpPr>
        <p:spPr>
          <a:xfrm>
            <a:off x="4996586" y="531266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Smart metering, grid monitoring, industrial controls</a:t>
            </a:r>
            <a:endParaRPr lang="en-US" sz="1300" dirty="0"/>
          </a:p>
        </p:txBody>
      </p:sp>
      <p:sp>
        <p:nvSpPr>
          <p:cNvPr id="36" name="Shape 23"/>
          <p:cNvSpPr/>
          <p:nvPr/>
        </p:nvSpPr>
        <p:spPr>
          <a:xfrm>
            <a:off x="8127797" y="49834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7" name="Image 11" descr="C:\Users\Abcom\Documents\Walnut\catalog\source\assets\icons\FiTruck-l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1241" y="5106924"/>
            <a:ext cx="210312" cy="21031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786165" y="49651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Industrial &amp; automotive</a:t>
            </a:r>
            <a:endParaRPr lang="en-US" sz="1600" dirty="0"/>
          </a:p>
        </p:txBody>
      </p:sp>
      <p:sp>
        <p:nvSpPr>
          <p:cNvPr id="39" name="Text 25"/>
          <p:cNvSpPr txBox="1"/>
          <p:nvPr/>
        </p:nvSpPr>
        <p:spPr>
          <a:xfrm>
            <a:off x="8786165" y="5312664"/>
            <a:ext cx="27837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Industrial electronics, sensors and automotive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2764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siness partners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pic>
        <p:nvPicPr>
          <p:cNvPr id="3" name="Image 1" descr="Walnut Technolog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736203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554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Let's build what's next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514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Engineering precision with user-centric design — we welcome the opportunity to collaborate with your team.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mage 2" descr="C:\Users\Abcom\Documents\Walnut\catalog\source\assets\icons\FiMapPin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3395533"/>
            <a:ext cx="176662" cy="17666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33856" y="327355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Address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1133856" y="3566160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Plot 132, JLPL Industrial Park, Sector 82, Mohali 160055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Dhanana (Upcoming in Haryana)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48640" y="4078224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mage 3" descr="C:\Users\Abcom\Documents\Walnut\catalog\source\assets\icons\FiPhon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4181917"/>
            <a:ext cx="176662" cy="17666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33856" y="4059936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Phone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1133856" y="4352544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+91 77194 63719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48640" y="486460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5" name="Image 4" descr="C:\Users\Abcom\Documents\Walnut\catalog\source\assets\icons\FiMail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" y="4968301"/>
            <a:ext cx="176662" cy="17666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33856" y="484632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Email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1133856" y="5138928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contact@walnutmedical.in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5650992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9" name="Image 5" descr="C:\Users\Abcom\Documents\Walnut\catalog\source\assets\icons\FiGlobe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3" y="5754685"/>
            <a:ext cx="176662" cy="17666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33856" y="5632704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Website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1133856" y="5925312"/>
            <a:ext cx="5084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walnutmedical.in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lnut Monochrome">
  <a:themeElements>
    <a:clrScheme name="Walnut Monochrome">
      <a:dk1>
        <a:srgbClr val="111111"/>
      </a:dk1>
      <a:lt1>
        <a:srgbClr val="FFFFFF"/>
      </a:lt1>
      <a:dk2>
        <a:srgbClr val="5E5E5E"/>
      </a:dk2>
      <a:lt2>
        <a:srgbClr val="F2F2F2"/>
      </a:lt2>
      <a:accent1>
        <a:srgbClr val="111111"/>
      </a:accent1>
      <a:accent2>
        <a:srgbClr val="1E1E1E"/>
      </a:accent2>
      <a:accent3>
        <a:srgbClr val="A6A6A6"/>
      </a:accent3>
      <a:accent4>
        <a:srgbClr val="D9D9D9"/>
      </a:accent4>
      <a:accent5>
        <a:srgbClr val="3A3A3A"/>
      </a:accent5>
      <a:accent6>
        <a:srgbClr val="8C8C8C"/>
      </a:accent6>
      <a:hlink>
        <a:srgbClr val="111111"/>
      </a:hlink>
      <a:folHlink>
        <a:srgbClr val="5E5E5E"/>
      </a:folHlink>
    </a:clrScheme>
    <a:fontScheme name="Walnut 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Walnut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Walnut Technologies — Automotive &amp; IoT Solutions</dc:title>
  <dc:subject>Smart instrument clusters, GPS tracker &amp; gateway, IoT devices</dc:subject>
  <dc:creator>Walnut Technologies Pvt. Ltd.</dc:creator>
  <cp:lastModifiedBy>Walnut Technologies Pvt. Ltd.</cp:lastModifiedBy>
  <cp:revision>1</cp:revision>
  <dcterms:created xsi:type="dcterms:W3CDTF">2026-10-25T06:00:36Z</dcterms:created>
  <dcterms:modified xsi:type="dcterms:W3CDTF">2026-10-25T06:00:36Z</dcterms:modified>
</cp:coreProperties>
</file>