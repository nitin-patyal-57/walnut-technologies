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b3a5cf4-c577-e291-52b1-9bed92dd17b6}">
          <p14:sldIdLst>
            <p14:sldId id="256"/>
          </p14:sldIdLst>
        </p14:section>
        <p14:section name="About" id="{3a5e6499-e823-190a-706e-1ee9ed41c2dd}">
          <p14:sldIdLst>
            <p14:sldId id="257"/>
            <p14:sldId id="258"/>
          </p14:sldIdLst>
        </p14:section>
        <p14:section name="Journey" id="{85b5909a-7783-4d6d-4a00-78cdccaf3261}">
          <p14:sldIdLst>
            <p14:sldId id="259"/>
          </p14:sldIdLst>
        </p14:section>
        <p14:section name="Infrastructure" id="{efa5c410-e7e0-eee4-37c1-91268bbed982}">
          <p14:sldIdLst>
            <p14:sldId id="260"/>
            <p14:sldId id="261"/>
          </p14:sldIdLst>
        </p14:section>
        <p14:section name="Products" id="{6b22ef4a-8eb2-61e0-88c6-391617960e24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ients" id="{470a0e33-e5a9-dd49-99cf-a5276115262f}">
          <p14:sldIdLst>
            <p14:sldId id="276"/>
          </p14:sldIdLst>
        </p14:section>
        <p14:section name="Contact" id="{1714f4ee-c563-0bf4-e404-327ef7f82cdc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880360"/>
            <a:ext cx="6035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34340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880360"/>
            <a:ext cx="43891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343400"/>
            <a:ext cx="43891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bcom\Documents\Walnut\catalog\source\assets\wm-ink.png">    </p:cNvPr>
          <p:cNvPicPr>
            <a:picLocks noChangeAspect="1"/>
          </p:cNvPicPr>
          <p:nvPr/>
        </p:nvPicPr>
        <p:blipFill>
          <a:blip r:embed="rId1">
            <a:alphaModFix amt="6000"/>
          </a:blip>
          <a:stretch>
            <a:fillRect/>
          </a:stretch>
        </p:blipFill>
        <p:spPr>
          <a:xfrm>
            <a:off x="8549640" y="4617720"/>
            <a:ext cx="4206240" cy="1572768"/>
          </a:xfrm>
          <a:prstGeom prst="rect">
            <a:avLst/>
          </a:prstGeom>
        </p:spPr>
      </p:pic>
      <p:pic>
        <p:nvPicPr>
          <p:cNvPr id="3" name="Image 1" descr="C:\Users\Abcom\Documents\Walnut\catalog\source\assets\logo-wal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09360"/>
            <a:ext cx="1180618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778240" y="6327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walnutmedical.in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bcom\Documents\Walnut\catalog\source\assets\wm-white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8549640" y="4617720"/>
            <a:ext cx="4206240" cy="1572768"/>
          </a:xfrm>
          <a:prstGeom prst="rect">
            <a:avLst/>
          </a:prstGeom>
        </p:spPr>
      </p:pic>
      <p:pic>
        <p:nvPicPr>
          <p:cNvPr id="3" name="Image 1" descr="C:\Users\Abcom\Documents\Walnut\catalog\source\assets\logo-walnu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09360"/>
            <a:ext cx="1180618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778240" y="6327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walnutmedical.in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image" Target="../media/image-6-8.jpg"/><Relationship Id="rId9" Type="http://schemas.openxmlformats.org/officeDocument/2006/relationships/image" Target="../media/image-6-9.jpg"/><Relationship Id="rId10" Type="http://schemas.openxmlformats.org/officeDocument/2006/relationships/image" Target="../media/image-6-10.jp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bcom\Documents\Walnut\catalog\source\assets\cache\building-1591x1650-cover-0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pic>
        <p:nvPicPr>
          <p:cNvPr id="3" name="Image 1" descr="Walnut Technolog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951544" cy="7772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COMPANY PRESENTATION 2026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5603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Intelligent Embedded Systems, Engineered for a Connected World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7091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End-to-end design, development and manufacturing partner (ODM/OEM) for medical devices, neuro-rehabilitation robotics, Payment system and its software eco-system, IoT and automotive electronics.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263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Walnut Technologies™  ·  Mohali, India  ·  walnutmedical.in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01 · ABOUT WALNUT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Who we are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Walnut Medical &amp; Walnut Technologies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established in 2016, has grown into a vertically integrated design and manufacturing company — from PCB design to final assembly, every stage is in-house.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852160" cy="2331720"/>
          </a:xfrm>
          <a:prstGeom prst="roundRect">
            <a:avLst>
              <a:gd name="adj" fmla="val 3922"/>
            </a:avLst>
          </a:prstGeom>
          <a:solidFill>
            <a:srgbClr val="1111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71800"/>
            <a:ext cx="167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10+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167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Years of excellence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590800" y="2971800"/>
            <a:ext cx="167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600+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590800" y="3520440"/>
            <a:ext cx="167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Engineers &amp; technicians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358640" y="2971800"/>
            <a:ext cx="167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10+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358640" y="3520440"/>
            <a:ext cx="167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Countries served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23360"/>
            <a:ext cx="167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500K+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572000"/>
            <a:ext cx="167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Units manufactured / month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590800" y="4023360"/>
            <a:ext cx="167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150,000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590800" y="4572000"/>
            <a:ext cx="167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Sq. ft facility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358640" y="4023360"/>
            <a:ext cx="167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358640" y="4572000"/>
            <a:ext cx="167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SMT production lines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285232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0" descr="C:\Users\Abcom\Documents\Walnut\catalog\source\assets\icons\FiMapPi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364236"/>
            <a:ext cx="134600" cy="1346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42416" y="526694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Mohali · AMTZ Visakhapatnam · Dhanana (Upcoming in Haryana)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696712"/>
            <a:ext cx="292608" cy="29260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1" descr="C:\Users\Abcom\Documents\Walnut\catalog\source\assets\icons\FiAward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5775716"/>
            <a:ext cx="134600" cy="1346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42416" y="5678424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ISO 13485 · CE · FCC · BIS · Industry 4.0 · Full traceability</a:t>
            </a:r>
            <a:endParaRPr lang="en-US" sz="1150" dirty="0"/>
          </a:p>
        </p:txBody>
      </p:sp>
      <p:pic>
        <p:nvPicPr>
          <p:cNvPr id="24" name="Image 2" descr="Production 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08760"/>
            <a:ext cx="2392528" cy="452628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812280" y="5532120"/>
            <a:ext cx="2118208" cy="36576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812280" y="5532120"/>
            <a:ext cx="211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Production line</a:t>
            </a:r>
            <a:endParaRPr lang="en-US" sz="1100" dirty="0"/>
          </a:p>
        </p:txBody>
      </p:sp>
      <p:pic>
        <p:nvPicPr>
          <p:cNvPr id="27" name="Image 3" descr="SMT line · JUKI &amp; FUJ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528" y="1508760"/>
            <a:ext cx="2392528" cy="45262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387688" y="5532120"/>
            <a:ext cx="2118208" cy="36576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9387688" y="5532120"/>
            <a:ext cx="2118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SMT line · JUKI &amp; FUJI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01 · ABOUT WALNUT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Vision, mission &amp; strengths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290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09928"/>
            <a:ext cx="411480" cy="4114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C:\Users\Abcom\Documents\Walnut\catalog\source\assets\icons\FiEye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1821028"/>
            <a:ext cx="189281" cy="1892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4244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chemeClr val="tx1"/>
                </a:solidFill>
              </a:rPr>
              <a:t>OUR VISION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286000"/>
            <a:ext cx="47928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To become India's leading technology and manufacturing powerhouse, delivering innovative, high-quality payment and electronic solutions to global markets.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10148" y="1481328"/>
            <a:ext cx="543290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530188" y="1700784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C:\Users\Abcom\Documents\Walnut\catalog\source\assets\icons\FiTarge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818" y="1809415"/>
            <a:ext cx="185075" cy="185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24548" y="1728216"/>
            <a:ext cx="4244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chemeClr val="tx1"/>
                </a:solidFill>
              </a:rPr>
              <a:t>OUR MISSION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530188" y="2912364"/>
            <a:ext cx="479282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926601" y="2304288"/>
            <a:ext cx="0" cy="121615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30188" y="2286000"/>
            <a:ext cx="2286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Customer First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530188" y="2532888"/>
            <a:ext cx="228668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Exceed expectations with innovative, reliable solutions.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9036329" y="2286000"/>
            <a:ext cx="2286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Quality Excellence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9036329" y="2532888"/>
            <a:ext cx="228668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Superior products through continuous improvement.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530188" y="2985516"/>
            <a:ext cx="2286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Integrity &amp; Trust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530188" y="3232404"/>
            <a:ext cx="228668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highest standards of ethics and transparency.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9036329" y="2985516"/>
            <a:ext cx="2286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Sustainable Growth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9036329" y="3232404"/>
            <a:ext cx="228668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Lasting value for customers, partners and stakeholders.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3913632"/>
            <a:ext cx="2072579" cy="2194560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/>
        </p:spPr>
      </p:sp>
      <p:sp>
        <p:nvSpPr>
          <p:cNvPr id="24" name="Shape 20"/>
          <p:cNvSpPr/>
          <p:nvPr/>
        </p:nvSpPr>
        <p:spPr>
          <a:xfrm>
            <a:off x="749808" y="409651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2" descr="C:\Users\Abcom\Documents\Walnut\catalog\source\assets\icons\FiCpu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4195267"/>
            <a:ext cx="168250" cy="16825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49808" y="459028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R&amp;D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749808" y="4864608"/>
            <a:ext cx="16702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Research &amp; Development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49808" y="512064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Dedicated research and innovation driving next-gen hardware, firmware, and embedded system technologies.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804099" y="3913632"/>
            <a:ext cx="2072579" cy="2194560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/>
        </p:spPr>
      </p:sp>
      <p:sp>
        <p:nvSpPr>
          <p:cNvPr id="30" name="Shape 25"/>
          <p:cNvSpPr/>
          <p:nvPr/>
        </p:nvSpPr>
        <p:spPr>
          <a:xfrm>
            <a:off x="3005267" y="409651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1" name="Image 3" descr="C:\Users\Abcom\Documents\Walnut\catalog\source\assets\icons\FiLayers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022" y="4195267"/>
            <a:ext cx="168250" cy="16825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3005267" y="459028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D&amp;D</a:t>
            </a:r>
            <a:endParaRPr lang="en-US" sz="1450" dirty="0"/>
          </a:p>
        </p:txBody>
      </p:sp>
      <p:sp>
        <p:nvSpPr>
          <p:cNvPr id="33" name="Text 27"/>
          <p:cNvSpPr txBox="1"/>
          <p:nvPr/>
        </p:nvSpPr>
        <p:spPr>
          <a:xfrm>
            <a:off x="3005267" y="4864608"/>
            <a:ext cx="16702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Design &amp; Development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3005267" y="512064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In-house design capability — from industrial aesthetics and mechanical CAD to schematics, PCB layout, and validation.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059558" y="3913632"/>
            <a:ext cx="2072579" cy="2194560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/>
        </p:spPr>
      </p:sp>
      <p:sp>
        <p:nvSpPr>
          <p:cNvPr id="36" name="Shape 30"/>
          <p:cNvSpPr/>
          <p:nvPr/>
        </p:nvSpPr>
        <p:spPr>
          <a:xfrm>
            <a:off x="5260726" y="409651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7" name="Image 4" descr="C:\Users\Abcom\Documents\Walnut\catalog\source\assets\icons\FiCloud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481" y="4195267"/>
            <a:ext cx="168250" cy="16825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260726" y="459028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Cloud &amp; Firmware</a:t>
            </a:r>
            <a:endParaRPr lang="en-US" sz="1450" dirty="0"/>
          </a:p>
        </p:txBody>
      </p:sp>
      <p:sp>
        <p:nvSpPr>
          <p:cNvPr id="39" name="Text 32"/>
          <p:cNvSpPr txBox="1"/>
          <p:nvPr/>
        </p:nvSpPr>
        <p:spPr>
          <a:xfrm>
            <a:off x="5260726" y="4864608"/>
            <a:ext cx="16702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In-House Architecture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5260726" y="512064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AWS server-side, RTOS platforms, MQTT, HTTPS, FOTA and JSON for connected IoT devices.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7315017" y="3913632"/>
            <a:ext cx="2072579" cy="2194560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/>
        </p:spPr>
      </p:sp>
      <p:sp>
        <p:nvSpPr>
          <p:cNvPr id="42" name="Shape 35"/>
          <p:cNvSpPr/>
          <p:nvPr/>
        </p:nvSpPr>
        <p:spPr>
          <a:xfrm>
            <a:off x="7516185" y="409651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3" name="Image 5" descr="C:\Users\Abcom\Documents\Walnut\catalog\source\assets\icons\FiRefreshCw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4940" y="4195267"/>
            <a:ext cx="168250" cy="16825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7516185" y="459028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Lean Mfg.</a:t>
            </a:r>
            <a:endParaRPr lang="en-US" sz="1450" dirty="0"/>
          </a:p>
        </p:txBody>
      </p:sp>
      <p:sp>
        <p:nvSpPr>
          <p:cNvPr id="45" name="Text 37"/>
          <p:cNvSpPr txBox="1"/>
          <p:nvPr/>
        </p:nvSpPr>
        <p:spPr>
          <a:xfrm>
            <a:off x="7516185" y="4864608"/>
            <a:ext cx="16702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Six Sigma &amp; 5S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7516185" y="512064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5S, Kaizen and Six Sigma practices — less waste, shorter lead times, and consistent high quality.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9570476" y="3913632"/>
            <a:ext cx="2072579" cy="2194560"/>
          </a:xfrm>
          <a:prstGeom prst="roundRect">
            <a:avLst>
              <a:gd name="adj" fmla="val 3530"/>
            </a:avLst>
          </a:prstGeom>
          <a:solidFill>
            <a:schemeClr val="bg2"/>
          </a:solidFill>
          <a:ln/>
        </p:spPr>
      </p:sp>
      <p:sp>
        <p:nvSpPr>
          <p:cNvPr id="48" name="Shape 40"/>
          <p:cNvSpPr/>
          <p:nvPr/>
        </p:nvSpPr>
        <p:spPr>
          <a:xfrm>
            <a:off x="9771644" y="409651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9" name="Image 6" descr="C:\Users\Abcom\Documents\Walnut\catalog\source\assets\icons\FiTrendingUp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0399" y="4195267"/>
            <a:ext cx="168250" cy="168250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9771644" y="459028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Fast Growth</a:t>
            </a:r>
            <a:endParaRPr lang="en-US" sz="1450" dirty="0"/>
          </a:p>
        </p:txBody>
      </p:sp>
      <p:sp>
        <p:nvSpPr>
          <p:cNvPr id="51" name="Text 42"/>
          <p:cNvSpPr txBox="1"/>
          <p:nvPr/>
        </p:nvSpPr>
        <p:spPr>
          <a:xfrm>
            <a:off x="9771644" y="4864608"/>
            <a:ext cx="16702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100%+ CAGR</a:t>
            </a:r>
            <a:endParaRPr lang="en-US" sz="1000" dirty="0"/>
          </a:p>
        </p:txBody>
      </p:sp>
      <p:sp>
        <p:nvSpPr>
          <p:cNvPr id="52" name="Text 43"/>
          <p:cNvSpPr txBox="1"/>
          <p:nvPr/>
        </p:nvSpPr>
        <p:spPr>
          <a:xfrm>
            <a:off x="9771644" y="512064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CAGR above 100% over the last four years with expanding international footprint.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02 · JOURNEY 2016 – 2026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62721" y="3538728"/>
            <a:ext cx="9666253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428162" cy="1645920"/>
          </a:xfrm>
          <a:prstGeom prst="roundRect">
            <a:avLst>
              <a:gd name="adj" fmla="val 5122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6" name="Image 0" descr="Walnut Medical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63624"/>
            <a:ext cx="1318434" cy="15361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62721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849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2016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Walnut Medical founded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Started with a vision to make quality healthcare more accessible.</a:t>
            </a:r>
            <a:endParaRPr lang="en-US" sz="1200" dirty="0"/>
          </a:p>
        </p:txBody>
      </p:sp>
      <p:pic>
        <p:nvPicPr>
          <p:cNvPr id="12" name="Image 1" descr="WalkLab gait training 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682" y="1508760"/>
            <a:ext cx="1428162" cy="16459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159682" y="1508760"/>
            <a:ext cx="1428162" cy="1645920"/>
          </a:xfrm>
          <a:prstGeom prst="roundRect">
            <a:avLst>
              <a:gd name="adj" fmla="val 5122"/>
            </a:avLst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873763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54891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59682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2017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2159682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Robotics &amp; neuro-rehab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159682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Walkex functional therapy and the WalkLab gait-training robot.</a:t>
            </a:r>
            <a:endParaRPr lang="en-US" sz="1200" dirty="0"/>
          </a:p>
        </p:txBody>
      </p:sp>
      <p:pic>
        <p:nvPicPr>
          <p:cNvPr id="19" name="Image 2" descr="Walnut Medical digital BP moni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724" y="1508760"/>
            <a:ext cx="1428162" cy="16459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770724" y="1508760"/>
            <a:ext cx="1428162" cy="1645920"/>
          </a:xfrm>
          <a:prstGeom prst="roundRect">
            <a:avLst>
              <a:gd name="adj" fmla="val 5122"/>
            </a:avLst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484805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365933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770724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2019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3770724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Medical devices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3770724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IR thermometer and digital BP monitor, then nebulizers and oxygen concentrators.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381767" y="1508760"/>
            <a:ext cx="1428162" cy="1645920"/>
          </a:xfrm>
          <a:prstGeom prst="roundRect">
            <a:avLst>
              <a:gd name="adj" fmla="val 5122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7" name="Image 3" descr="Walnut Technologies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631" y="1563624"/>
            <a:ext cx="1318434" cy="153619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095848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976976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81767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2021</a:t>
            </a:r>
            <a:endParaRPr lang="en-US" sz="2600" dirty="0"/>
          </a:p>
        </p:txBody>
      </p:sp>
      <p:sp>
        <p:nvSpPr>
          <p:cNvPr id="31" name="Text 25"/>
          <p:cNvSpPr txBox="1"/>
          <p:nvPr/>
        </p:nvSpPr>
        <p:spPr>
          <a:xfrm>
            <a:off x="5381767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Walnut Technologies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5381767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Engineering expands beyond healthcare into electronics for every industry.</a:t>
            </a:r>
            <a:endParaRPr lang="en-US" sz="1200" dirty="0"/>
          </a:p>
        </p:txBody>
      </p:sp>
      <p:pic>
        <p:nvPicPr>
          <p:cNvPr id="33" name="Image 4" descr="Walnut payment soundbox on a shop coun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809" y="1508760"/>
            <a:ext cx="1428162" cy="164592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992809" y="1508760"/>
            <a:ext cx="1428162" cy="1645920"/>
          </a:xfrm>
          <a:prstGeom prst="roundRect">
            <a:avLst>
              <a:gd name="adj" fmla="val 5122"/>
            </a:avLst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706890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588018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6992809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2022</a:t>
            </a:r>
            <a:endParaRPr lang="en-US" sz="2600" dirty="0"/>
          </a:p>
        </p:txBody>
      </p:sp>
      <p:sp>
        <p:nvSpPr>
          <p:cNvPr id="38" name="Text 31"/>
          <p:cNvSpPr txBox="1"/>
          <p:nvPr/>
        </p:nvSpPr>
        <p:spPr>
          <a:xfrm>
            <a:off x="6992809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Fintech · soundbox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6992809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Smart payment soundboxes and POS devices, in mass production from 2023.</a:t>
            </a:r>
            <a:endParaRPr lang="en-US" sz="1200" dirty="0"/>
          </a:p>
        </p:txBody>
      </p:sp>
      <p:pic>
        <p:nvPicPr>
          <p:cNvPr id="40" name="Image 5" descr="Smart instrument clus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3851" y="1508760"/>
            <a:ext cx="1428162" cy="164592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8603851" y="1508760"/>
            <a:ext cx="1428162" cy="1645920"/>
          </a:xfrm>
          <a:prstGeom prst="roundRect">
            <a:avLst>
              <a:gd name="adj" fmla="val 5122"/>
            </a:avLst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9317932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9199060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8603851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2025</a:t>
            </a:r>
            <a:endParaRPr lang="en-US" sz="2600" dirty="0"/>
          </a:p>
        </p:txBody>
      </p:sp>
      <p:sp>
        <p:nvSpPr>
          <p:cNvPr id="45" name="Text 37"/>
          <p:cNvSpPr txBox="1"/>
          <p:nvPr/>
        </p:nvSpPr>
        <p:spPr>
          <a:xfrm>
            <a:off x="8603851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Smart clusters</a:t>
            </a:r>
            <a:endParaRPr lang="en-US" sz="1400" dirty="0"/>
          </a:p>
        </p:txBody>
      </p:sp>
      <p:sp>
        <p:nvSpPr>
          <p:cNvPr id="46" name="Text 38"/>
          <p:cNvSpPr txBox="1"/>
          <p:nvPr/>
        </p:nvSpPr>
        <p:spPr>
          <a:xfrm>
            <a:off x="8603851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5″ and 7″ smart clusters for 2-wheelers, tractors and vehicles.</a:t>
            </a:r>
            <a:endParaRPr lang="en-US" sz="1200" dirty="0"/>
          </a:p>
        </p:txBody>
      </p:sp>
      <p:pic>
        <p:nvPicPr>
          <p:cNvPr id="47" name="Image 6" descr="Walnut GPS track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4893" y="1508760"/>
            <a:ext cx="1428162" cy="1645920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10214893" y="1508760"/>
            <a:ext cx="1428162" cy="1645920"/>
          </a:xfrm>
          <a:prstGeom prst="roundRect">
            <a:avLst>
              <a:gd name="adj" fmla="val 5122"/>
            </a:avLst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10928974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10810102" y="3419856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10214893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2026</a:t>
            </a:r>
            <a:endParaRPr lang="en-US" sz="2600" dirty="0"/>
          </a:p>
        </p:txBody>
      </p:sp>
      <p:sp>
        <p:nvSpPr>
          <p:cNvPr id="52" name="Text 43"/>
          <p:cNvSpPr txBox="1"/>
          <p:nvPr/>
        </p:nvSpPr>
        <p:spPr>
          <a:xfrm>
            <a:off x="10214893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GPS tracker &amp; IoT</a:t>
            </a:r>
            <a:endParaRPr lang="en-US" sz="1400" dirty="0"/>
          </a:p>
        </p:txBody>
      </p:sp>
      <p:sp>
        <p:nvSpPr>
          <p:cNvPr id="53" name="Text 44"/>
          <p:cNvSpPr txBox="1"/>
          <p:nvPr/>
        </p:nvSpPr>
        <p:spPr>
          <a:xfrm>
            <a:off x="10214893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GPS tracker &amp; gateway and a growing range of connected IoT devices.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03 · INFRASTRUCTURE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Manufacturing infrastructure</a:t>
            </a:r>
            <a:endParaRPr lang="en-US" sz="3200" dirty="0"/>
          </a:p>
        </p:txBody>
      </p:sp>
      <p:pic>
        <p:nvPicPr>
          <p:cNvPr id="4" name="Image 0" descr="Production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737360" cy="2125980"/>
          </a:xfrm>
          <a:prstGeom prst="rect">
            <a:avLst/>
          </a:prstGeom>
        </p:spPr>
      </p:pic>
      <p:pic>
        <p:nvPicPr>
          <p:cNvPr id="5" name="Image 1" descr="SMT 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600200"/>
            <a:ext cx="1737360" cy="2125980"/>
          </a:xfrm>
          <a:prstGeom prst="rect">
            <a:avLst/>
          </a:prstGeom>
        </p:spPr>
      </p:pic>
      <p:pic>
        <p:nvPicPr>
          <p:cNvPr id="6" name="Image 2" descr="Precision rewo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00200"/>
            <a:ext cx="1737360" cy="2125980"/>
          </a:xfrm>
          <a:prstGeom prst="rect">
            <a:avLst/>
          </a:prstGeom>
        </p:spPr>
      </p:pic>
      <p:pic>
        <p:nvPicPr>
          <p:cNvPr id="7" name="Image 3" descr="Environmental test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63340"/>
            <a:ext cx="1737360" cy="2125980"/>
          </a:xfrm>
          <a:prstGeom prst="rect">
            <a:avLst/>
          </a:prstGeom>
        </p:spPr>
      </p:pic>
      <p:pic>
        <p:nvPicPr>
          <p:cNvPr id="8" name="Image 4" descr="Functional test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3863340"/>
            <a:ext cx="1737360" cy="2125980"/>
          </a:xfrm>
          <a:prstGeom prst="rect">
            <a:avLst/>
          </a:prstGeom>
        </p:spPr>
      </p:pic>
      <p:pic>
        <p:nvPicPr>
          <p:cNvPr id="9" name="Image 5" descr="Packing and dispatc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863340"/>
            <a:ext cx="1737360" cy="212598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6355080" y="162763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6" descr="C:\Users\Abcom\Documents\Walnut\catalog\source\assets\icons\FiHome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835" y="1726387"/>
            <a:ext cx="168250" cy="168250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6922008" y="160934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150,000 sq. ft facility</a:t>
            </a:r>
            <a:endParaRPr lang="en-US" sz="1500" dirty="0"/>
          </a:p>
        </p:txBody>
      </p:sp>
      <p:sp>
        <p:nvSpPr>
          <p:cNvPr id="13" name="Text 4"/>
          <p:cNvSpPr txBox="1"/>
          <p:nvPr/>
        </p:nvSpPr>
        <p:spPr>
          <a:xfrm>
            <a:off x="6922008" y="190195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Mohali · AMTZ · Dhanana (Upcoming in Haryana)</a:t>
            </a:r>
            <a:endParaRPr lang="en-US" sz="1300" dirty="0"/>
          </a:p>
        </p:txBody>
      </p:sp>
      <p:sp>
        <p:nvSpPr>
          <p:cNvPr id="14" name="Shape 5"/>
          <p:cNvSpPr/>
          <p:nvPr/>
        </p:nvSpPr>
        <p:spPr>
          <a:xfrm>
            <a:off x="6355080" y="235915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7" descr="C:\Users\Abcom\Documents\Walnut\catalog\source\assets\icons\FiCpu-l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3835" y="2457907"/>
            <a:ext cx="168250" cy="168250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6922008" y="234086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 SMT production lines</a:t>
            </a:r>
            <a:endParaRPr lang="en-US" sz="1500" dirty="0"/>
          </a:p>
        </p:txBody>
      </p:sp>
      <p:sp>
        <p:nvSpPr>
          <p:cNvPr id="17" name="Text 7"/>
          <p:cNvSpPr txBox="1"/>
          <p:nvPr/>
        </p:nvSpPr>
        <p:spPr>
          <a:xfrm>
            <a:off x="6922008" y="263347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Fully automatic SMT — JUKI RS-1, FUJI, 200,000 CPH</a:t>
            </a:r>
            <a:endParaRPr lang="en-US" sz="1300" dirty="0"/>
          </a:p>
        </p:txBody>
      </p:sp>
      <p:sp>
        <p:nvSpPr>
          <p:cNvPr id="18" name="Shape 8"/>
          <p:cNvSpPr/>
          <p:nvPr/>
        </p:nvSpPr>
        <p:spPr>
          <a:xfrm>
            <a:off x="6355080" y="309067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8" descr="C:\Users\Abcom\Documents\Walnut\catalog\source\assets\icons\FiActivity-l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835" y="3189427"/>
            <a:ext cx="168250" cy="168250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6922008" y="307238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In-house test &amp; calibration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6922008" y="336499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Keysight · National Instruments · Rigol · Tektronix</a:t>
            </a:r>
            <a:endParaRPr lang="en-US" sz="1300" dirty="0"/>
          </a:p>
        </p:txBody>
      </p:sp>
      <p:sp>
        <p:nvSpPr>
          <p:cNvPr id="22" name="Shape 11"/>
          <p:cNvSpPr/>
          <p:nvPr/>
        </p:nvSpPr>
        <p:spPr>
          <a:xfrm>
            <a:off x="6355080" y="382219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Image 9" descr="C:\Users\Abcom\Documents\Walnut\catalog\source\assets\icons\FiLayers-l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3835" y="3920947"/>
            <a:ext cx="168250" cy="16825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6922008" y="380390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PCB design to production</a:t>
            </a:r>
            <a:endParaRPr lang="en-US" sz="1500" dirty="0"/>
          </a:p>
        </p:txBody>
      </p:sp>
      <p:sp>
        <p:nvSpPr>
          <p:cNvPr id="25" name="Text 13"/>
          <p:cNvSpPr txBox="1"/>
          <p:nvPr/>
        </p:nvSpPr>
        <p:spPr>
          <a:xfrm>
            <a:off x="6922008" y="409651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Design, validation, prototyping, pilot lots, full scale</a:t>
            </a:r>
            <a:endParaRPr lang="en-US" sz="1300" dirty="0"/>
          </a:p>
        </p:txBody>
      </p:sp>
      <p:sp>
        <p:nvSpPr>
          <p:cNvPr id="26" name="Shape 14"/>
          <p:cNvSpPr/>
          <p:nvPr/>
        </p:nvSpPr>
        <p:spPr>
          <a:xfrm>
            <a:off x="6355080" y="455371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10" descr="C:\Users\Abcom\Documents\Walnut\catalog\source\assets\icons\FiCheckCircle-l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3835" y="4652467"/>
            <a:ext cx="168250" cy="16825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6922008" y="453542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IQC · LQC · OQC quality teams</a:t>
            </a:r>
            <a:endParaRPr lang="en-US" sz="1500" dirty="0"/>
          </a:p>
        </p:txBody>
      </p:sp>
      <p:sp>
        <p:nvSpPr>
          <p:cNvPr id="29" name="Text 16"/>
          <p:cNvSpPr txBox="1"/>
          <p:nvPr/>
        </p:nvSpPr>
        <p:spPr>
          <a:xfrm>
            <a:off x="6922008" y="482803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Inspection at incoming, line and outgoing stages</a:t>
            </a:r>
            <a:endParaRPr lang="en-US" sz="1300" dirty="0"/>
          </a:p>
        </p:txBody>
      </p:sp>
      <p:sp>
        <p:nvSpPr>
          <p:cNvPr id="30" name="Shape 17"/>
          <p:cNvSpPr/>
          <p:nvPr/>
        </p:nvSpPr>
        <p:spPr>
          <a:xfrm>
            <a:off x="6355080" y="528523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1" name="Image 11" descr="C:\Users\Abcom\Documents\Walnut\catalog\source\assets\icons\FiBox-l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3835" y="5383987"/>
            <a:ext cx="168250" cy="16825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6922008" y="526694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Moulds &amp; injection moulding</a:t>
            </a:r>
            <a:endParaRPr lang="en-US" sz="1500" dirty="0"/>
          </a:p>
        </p:txBody>
      </p:sp>
      <p:sp>
        <p:nvSpPr>
          <p:cNvPr id="33" name="Text 19"/>
          <p:cNvSpPr txBox="1"/>
          <p:nvPr/>
        </p:nvSpPr>
        <p:spPr>
          <a:xfrm>
            <a:off x="6922008" y="555955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Mass-production mould design and plastics in-house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03 · HOW WE WORK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End-to-End Production Process</a:t>
            </a:r>
            <a:endParaRPr lang="en-US" sz="3200" dirty="0"/>
          </a:p>
        </p:txBody>
      </p:sp>
      <p:pic>
        <p:nvPicPr>
          <p:cNvPr id="4" name="Image 0" descr="Idea &amp; Requir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057949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285292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Idea &amp; Requirement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36499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Clear direction</a:t>
            </a:r>
            <a:endParaRPr lang="en-US" sz="1200" dirty="0"/>
          </a:p>
        </p:txBody>
      </p:sp>
      <p:pic>
        <p:nvPicPr>
          <p:cNvPr id="8" name="Image 1" descr="Research &amp; Market Analys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757" y="1554480"/>
            <a:ext cx="2057949" cy="1188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07757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219237" y="285292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Research &amp; Market Analysis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219237" y="336499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Right opportunity</a:t>
            </a:r>
            <a:endParaRPr lang="en-US" sz="1200" dirty="0"/>
          </a:p>
        </p:txBody>
      </p:sp>
      <p:pic>
        <p:nvPicPr>
          <p:cNvPr id="12" name="Image 2" descr="Design &amp; Enginee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873" y="1554480"/>
            <a:ext cx="2057949" cy="11887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66873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478353" y="285292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Design &amp; Engineering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78353" y="336499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Optimized design</a:t>
            </a:r>
            <a:endParaRPr lang="en-US" sz="1200" dirty="0"/>
          </a:p>
        </p:txBody>
      </p:sp>
      <p:pic>
        <p:nvPicPr>
          <p:cNvPr id="16" name="Image 3" descr="Prototype Develop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990" y="1554480"/>
            <a:ext cx="2057949" cy="11887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2599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04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737470" y="285292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Prototype Development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737470" y="336499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Working prototype</a:t>
            </a:r>
            <a:endParaRPr lang="en-US" sz="1200" dirty="0"/>
          </a:p>
        </p:txBody>
      </p:sp>
      <p:pic>
        <p:nvPicPr>
          <p:cNvPr id="20" name="Image 4" descr="Validation &amp; Test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5107" y="1554480"/>
            <a:ext cx="2057949" cy="11887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85107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05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9996587" y="285292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Validation &amp; Testing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9996587" y="336499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Validated performance</a:t>
            </a:r>
            <a:endParaRPr lang="en-US" sz="1200" dirty="0"/>
          </a:p>
        </p:txBody>
      </p:sp>
      <p:pic>
        <p:nvPicPr>
          <p:cNvPr id="24" name="Image 5" descr="Manufacturing Engineer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886200"/>
            <a:ext cx="2057949" cy="11887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8640" y="5184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06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960120" y="518464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Manufacturing Engineering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960120" y="569671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Production ready</a:t>
            </a:r>
            <a:endParaRPr lang="en-US" sz="1200" dirty="0"/>
          </a:p>
        </p:txBody>
      </p:sp>
      <p:pic>
        <p:nvPicPr>
          <p:cNvPr id="28" name="Image 6" descr="Quality Assuran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7757" y="3886200"/>
            <a:ext cx="2057949" cy="11887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2807757" y="5184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07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3219237" y="518464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Quality Assurance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3219237" y="569671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Zero-defect mindset</a:t>
            </a:r>
            <a:endParaRPr lang="en-US" sz="1200" dirty="0"/>
          </a:p>
        </p:txBody>
      </p:sp>
      <p:pic>
        <p:nvPicPr>
          <p:cNvPr id="32" name="Image 7" descr="Packaging &amp; Dispatc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6873" y="3886200"/>
            <a:ext cx="2057949" cy="11887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066873" y="5184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08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5478353" y="518464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Packaging &amp; Dispatch</a:t>
            </a:r>
            <a:endParaRPr lang="en-US" sz="1400" dirty="0"/>
          </a:p>
        </p:txBody>
      </p:sp>
      <p:sp>
        <p:nvSpPr>
          <p:cNvPr id="35" name="Text 25"/>
          <p:cNvSpPr txBox="1"/>
          <p:nvPr/>
        </p:nvSpPr>
        <p:spPr>
          <a:xfrm>
            <a:off x="5478353" y="569671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Safe, on-time delivery</a:t>
            </a:r>
            <a:endParaRPr lang="en-US" sz="1200" dirty="0"/>
          </a:p>
        </p:txBody>
      </p:sp>
      <p:pic>
        <p:nvPicPr>
          <p:cNvPr id="36" name="Image 8" descr="After-Sales Suppor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5990" y="3886200"/>
            <a:ext cx="2057949" cy="11887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325990" y="5184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09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7737470" y="518464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After-Sales Support</a:t>
            </a:r>
            <a:endParaRPr lang="en-US" sz="1400" dirty="0"/>
          </a:p>
        </p:txBody>
      </p:sp>
      <p:sp>
        <p:nvSpPr>
          <p:cNvPr id="39" name="Text 28"/>
          <p:cNvSpPr txBox="1"/>
          <p:nvPr/>
        </p:nvSpPr>
        <p:spPr>
          <a:xfrm>
            <a:off x="7737470" y="569671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Reliable support</a:t>
            </a:r>
            <a:endParaRPr lang="en-US" sz="1200" dirty="0"/>
          </a:p>
        </p:txBody>
      </p:sp>
      <p:pic>
        <p:nvPicPr>
          <p:cNvPr id="40" name="Image 9" descr="Continuous Improvemen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5107" y="3886200"/>
            <a:ext cx="2057949" cy="118872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9585107" y="5184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10</a:t>
            </a:r>
            <a:endParaRPr lang="en-US" sz="1500" dirty="0"/>
          </a:p>
        </p:txBody>
      </p:sp>
      <p:sp>
        <p:nvSpPr>
          <p:cNvPr id="42" name="Text 30"/>
          <p:cNvSpPr txBox="1"/>
          <p:nvPr/>
        </p:nvSpPr>
        <p:spPr>
          <a:xfrm>
            <a:off x="9996587" y="518464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Continuous Improvement</a:t>
            </a:r>
            <a:endParaRPr lang="en-US" sz="1400" dirty="0"/>
          </a:p>
        </p:txBody>
      </p:sp>
      <p:sp>
        <p:nvSpPr>
          <p:cNvPr id="43" name="Text 31"/>
          <p:cNvSpPr txBox="1"/>
          <p:nvPr/>
        </p:nvSpPr>
        <p:spPr>
          <a:xfrm>
            <a:off x="9996587" y="569671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Better every day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548640"/>
            <a:ext cx="4830775" cy="5760720"/>
          </a:xfrm>
          <a:prstGeom prst="roundRect">
            <a:avLst>
              <a:gd name="adj" fmla="val 22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3" name="Image 0" descr="Walnut product r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731520"/>
            <a:ext cx="4465015" cy="5394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SECTION 04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Products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487168"/>
            <a:ext cx="539496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63347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Five product families, designed and built in-house.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310128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9" name="Image 1" descr="C:\Users\Abcom\Documents\Walnut\catalog\source\assets\icons\FiHear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71" y="3418759"/>
            <a:ext cx="185075" cy="18507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33284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Medical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474720" y="33284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Diagnostics &amp; monitoring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1115568" y="3803904"/>
            <a:ext cx="5376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3895344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2" descr="C:\Users\Abcom\Documents\Walnut\catalog\source\assets\icons\FiActivit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71" y="4003975"/>
            <a:ext cx="185075" cy="18507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15568" y="3913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Neuro-rehabilitation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74720" y="3913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Robotics &amp; FES therapy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1115568" y="4389120"/>
            <a:ext cx="5376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3" descr="C:\Users\Abcom\Documents\Walnut\catalog\source\assets\icons\FiCreditCard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1" y="4589191"/>
            <a:ext cx="185075" cy="18507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15568" y="4498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Fintech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3474720" y="4498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Soundboxes &amp; payment POS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1115568" y="4974336"/>
            <a:ext cx="5376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48640" y="5065776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Image 4" descr="C:\Users\Abcom\Documents\Walnut\catalog\source\assets\icons\FiTruck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71" y="5174407"/>
            <a:ext cx="185075" cy="18507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15568" y="50840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Automotive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3474720" y="50840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Smart instrument clusters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1115568" y="5559552"/>
            <a:ext cx="5376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48640" y="5650992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9" name="Image 5" descr="C:\Users\Abcom\Documents\Walnut\catalog\source\assets\icons\FiWifi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71" y="5759623"/>
            <a:ext cx="185075" cy="18507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115568" y="5669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IoT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347472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Trackers, gateways &amp; locks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MEDICAL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Medical devices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CDSCO-approved Class B and Class C medical devices, designed and manufactured under ISO 13485.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67864" cy="338328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6" name="Image 0" descr="Digital BP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67128"/>
            <a:ext cx="2348408" cy="1691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97764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Digital BP monitor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6177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Clinical-grade automatic blood pressure monitor with digital display and memory.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90824" y="2057400"/>
            <a:ext cx="2567864" cy="338328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0" name="Image 1" descr="IR thermome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552" y="2167128"/>
            <a:ext cx="2348408" cy="1691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397764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IR thermometer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619424" y="46177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ThermoSure non-contact infrared thermometer — fast, hygienic readings.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3008" y="2057400"/>
            <a:ext cx="2567864" cy="338328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4" name="Image 2" descr="Compressor nebuliz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736" y="2167128"/>
            <a:ext cx="2348408" cy="1691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397764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Compressor nebulizer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1608" y="46177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Compact, low-noise respiratory therapy for clinic and home.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9075191" y="2057400"/>
            <a:ext cx="2567864" cy="338328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8" name="Image 3" descr="Oxygen concentra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919" y="2167128"/>
            <a:ext cx="2348408" cy="1691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397764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Oxygen concentrator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9303791" y="46177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 L and 10 L, single and dual flow, for clinical and homecare use.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22960" y="557784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 development: a gold-standard electronic BP monitoring device, with ICMR funding and clinical trials at AIIMS Nagpur, AIIMS Delhi and Chettinad Super Speciality Hospital.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NEURO REHAB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Neuro-rehabilitation &amp; robotics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859707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1859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AI-assisted therapy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8075" y="1481328"/>
            <a:ext cx="1942186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8075" y="1481328"/>
            <a:ext cx="1942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Real-time monitoring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69988" y="1481328"/>
            <a:ext cx="161227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9988" y="1481328"/>
            <a:ext cx="16122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Tele-rehab ready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91986" y="1481328"/>
            <a:ext cx="540045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986" y="1481328"/>
            <a:ext cx="5400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1759" y="1481328"/>
            <a:ext cx="622524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1759" y="1481328"/>
            <a:ext cx="6225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rTMS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74011" y="1481328"/>
            <a:ext cx="622524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74011" y="1481328"/>
            <a:ext cx="6225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RMNS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3515258" cy="3931920"/>
          </a:xfrm>
          <a:prstGeom prst="roundRect">
            <a:avLst>
              <a:gd name="adj" fmla="val 208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7" name="Image 0" descr="WalkL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3515258" cy="26974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77240" y="5001768"/>
            <a:ext cx="305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WalkLab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67528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Lower limb walk trainer.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338218" y="2103120"/>
            <a:ext cx="3515258" cy="3931920"/>
          </a:xfrm>
          <a:prstGeom prst="roundRect">
            <a:avLst>
              <a:gd name="adj" fmla="val 208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1" name="Image 1" descr="Weeb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218" y="2103120"/>
            <a:ext cx="3515258" cy="26974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566818" y="5001768"/>
            <a:ext cx="305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Weebo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4566818" y="5367528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Early rehabilitation robot and functional electrical stimulation.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27797" y="2103120"/>
            <a:ext cx="3515258" cy="3931920"/>
          </a:xfrm>
          <a:prstGeom prst="roundRect">
            <a:avLst>
              <a:gd name="adj" fmla="val 208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5" name="Image 2" descr="Walke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2103120"/>
            <a:ext cx="3515258" cy="269748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356397" y="5001768"/>
            <a:ext cx="30580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Walkex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8356397" y="5367528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Functional electrical stimulation for foot drop — stroke and paralysis recovery.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FINTECH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Fintech &amp; payment devices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282355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12823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BIS approved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40723" y="1481328"/>
            <a:ext cx="8699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40723" y="1481328"/>
            <a:ext cx="86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PCI-DSS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0411" y="1481328"/>
            <a:ext cx="1447312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0411" y="1481328"/>
            <a:ext cx="1447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NPCI compliant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77451" y="1481328"/>
            <a:ext cx="1034918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77451" y="1481328"/>
            <a:ext cx="10349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EMV L1/L2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2097" y="1481328"/>
            <a:ext cx="1942186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2097" y="1481328"/>
            <a:ext cx="1942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Multi-language audio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74011" y="1481328"/>
            <a:ext cx="1942186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74011" y="1481328"/>
            <a:ext cx="1942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NFC tap &amp; pay — 2026</a:t>
            </a:r>
            <a:endParaRPr lang="en-US" sz="1100" dirty="0"/>
          </a:p>
        </p:txBody>
      </p:sp>
      <p:pic>
        <p:nvPicPr>
          <p:cNvPr id="16" name="Image 0" descr="Walnut payment soundbox r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11094415" cy="13716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48640" y="3566160"/>
            <a:ext cx="2567864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8" name="Image 1" descr="All in 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749040"/>
            <a:ext cx="2110664" cy="11887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504748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All in one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53949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On-device QR generation with EMV tap and chip insert, and a certified PIN pad.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390824" y="3566160"/>
            <a:ext cx="2567864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2" name="Image 2" descr="DQR — Digital 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424" y="3749040"/>
            <a:ext cx="2110664" cy="11887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619424" y="504748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DQR — Digital QR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3619424" y="53949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High-contrast LCD for dynamic QR and clear transaction visibility.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33008" y="3566160"/>
            <a:ext cx="2567864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6" name="Image 3" descr="LDQR — Large displ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3749040"/>
            <a:ext cx="2110664" cy="11887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461608" y="504748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LDQR — Large display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461608" y="53949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10″ touchscreen, 2.4″ merchant display, keyboard and NFC tap-and-pay.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075191" y="3566160"/>
            <a:ext cx="2567864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30" name="Image 4" descr="Payment soundbox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791" y="3749040"/>
            <a:ext cx="2110664" cy="11887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303791" y="504748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Payment soundbox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303791" y="53949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4G/2G, NB-IoT, Bluetooth and Wi-Fi smart payment speakers.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END-TO-END SOUNDBOX ECOSYSTEM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Terminal Management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Manage your fleet anywhere, anytime. 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 control centre for your entire terminal estate — TMS streamlines the full device lifecycle, from deployment to OTA updates and troubleshooting, with real-time visibility into every unit.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C:\Users\Abcom\Documents\Walnut\catalog\source\assets\icons\FiGrid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2567635"/>
            <a:ext cx="168250" cy="1682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245059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Device &amp; network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2743200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Storage, CPU, memory, battery, IP, IMEI, operator and live location.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C:\Users\Abcom\Documents\Walnut\catalog\source\assets\icons\FiSmartphon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" y="3299155"/>
            <a:ext cx="168250" cy="1682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318211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 details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15568" y="3474720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App, SDK, sound-file and language versions; install history.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2" descr="C:\Users\Abcom\Documents\Walnut\catalog\source\assets\icons\FiCalendar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4030675"/>
            <a:ext cx="168250" cy="16825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15568" y="391363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Scheduler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" y="4206240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Schedule OTA jobs, advertisements and remote commands.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66344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3" descr="C:\Users\Abcom\Documents\Walnut\catalog\source\assets\icons\FiUserPlus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" y="4762195"/>
            <a:ext cx="168250" cy="1682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15568" y="464515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Onboarding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115568" y="4937760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Link to merchant accounts, release OTP, un-bind, watch the transaction matrix.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539496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4" descr="C:\Users\Abcom\Documents\Walnut\catalog\source\assets\icons\FiShield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" y="5493715"/>
            <a:ext cx="168250" cy="16825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15568" y="537667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Defender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115568" y="5669280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Security metrics, anomaly detection, audits, alerts and mitigation.</a:t>
            </a:r>
            <a:endParaRPr lang="en-US" sz="1100" dirty="0"/>
          </a:p>
        </p:txBody>
      </p:sp>
      <p:pic>
        <p:nvPicPr>
          <p:cNvPr id="25" name="Image 5" descr="TMS device dashboar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8135" y="1463040"/>
            <a:ext cx="5074920" cy="2918079"/>
          </a:xfrm>
          <a:prstGeom prst="rect">
            <a:avLst/>
          </a:prstGeom>
        </p:spPr>
      </p:pic>
      <p:pic>
        <p:nvPicPr>
          <p:cNvPr id="26" name="Image 6" descr="Fleet device ma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135" y="4563999"/>
            <a:ext cx="2446020" cy="1528763"/>
          </a:xfrm>
          <a:prstGeom prst="rect">
            <a:avLst/>
          </a:prstGeom>
        </p:spPr>
      </p:pic>
      <p:pic>
        <p:nvPicPr>
          <p:cNvPr id="27" name="Image 7" descr="Alerts and ticke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7035" y="4563999"/>
            <a:ext cx="2446020" cy="15287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END-TO-END SOUNDBOX ECOSYSTEM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MQTT broker — instant, secure announcements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Carrier-grade, isolated messaging infrastructure delivering payment voice confirmations in under 200 ms with end-to-end cryptographic integrity.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063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31720"/>
            <a:ext cx="411480" cy="4114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C:\Users\Abcom\Documents\Walnut\catalog\source\assets\icons\FiShare2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442820"/>
            <a:ext cx="189281" cy="18928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359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Dedicated connection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5292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MQTT traffic isolated on its own fast-path to prevent network congestion and guarantee ultra-low latency.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40480" y="2103120"/>
            <a:ext cx="3063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4069080" y="2331720"/>
            <a:ext cx="411480" cy="4114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mage 1" descr="C:\Users\Abcom\Documents\Walnut\catalog\source\assets\icons\FiLock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80" y="2442820"/>
            <a:ext cx="189281" cy="18928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2359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TLS 1.2 encryption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069080" y="285292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Hardware-accelerated end-to-end encryption, MITM protection, and verified data integrity in transit.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3063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297680"/>
            <a:ext cx="411480" cy="4114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2" descr="C:\Users\Abcom\Documents\Walnut\catalog\source\assets\icons\FiServer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4408780"/>
            <a:ext cx="189281" cy="18928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4325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Centralised broker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8188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Streamlined broker architecture for simplified access control, ACLs, and enterprise policy enforcement at scale.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840480" y="4069080"/>
            <a:ext cx="3063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4069080" y="4297680"/>
            <a:ext cx="411480" cy="4114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3" descr="C:\Users\Abcom\Documents\Walnut\catalog\source\assets\icons\FiFeather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180" y="4408780"/>
            <a:ext cx="189281" cy="18928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617720" y="4325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Lightweight by design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4069080" y="48188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Minimal packet overhead, QoS 1 delivery, and optimized keep-alive intervals tailored for battery-operated soundboxes.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223760" y="2103120"/>
            <a:ext cx="4419295" cy="3794760"/>
          </a:xfrm>
          <a:prstGeom prst="roundRect">
            <a:avLst>
              <a:gd name="adj" fmla="val 1928"/>
            </a:avLst>
          </a:prstGeom>
          <a:solidFill>
            <a:schemeClr val="bg2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6" name="Image 4" descr="TMS dashboard previe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2240280"/>
            <a:ext cx="4053535" cy="21031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452360" y="4526280"/>
            <a:ext cx="129021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7498080" y="4663440"/>
            <a:ext cx="1198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&lt; 200 ms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7498080" y="5074920"/>
            <a:ext cx="1198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Voice announcement latency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788298" y="4526280"/>
            <a:ext cx="129021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8834018" y="4663440"/>
            <a:ext cx="1198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TLS 1.2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8834018" y="5074920"/>
            <a:ext cx="1198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Bank-grade payload encryption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10124237" y="4526280"/>
            <a:ext cx="129021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10169957" y="4663440"/>
            <a:ext cx="1198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99.99%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10169957" y="5074920"/>
            <a:ext cx="1198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Delivery success rate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AUTOMOTIVE &amp; IOT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Automotive &amp; IoT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864" cy="43891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pic>
        <p:nvPicPr>
          <p:cNvPr id="5" name="Image 0" descr="Smart clus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2110664" cy="2011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9776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 clusters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38912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5″ and 7″ · Android &amp; RTOS · 4G, BT, Wi-Fi · Google Maps mirroring · custom cluster development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90824" y="1600200"/>
            <a:ext cx="2567864" cy="43891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pic>
        <p:nvPicPr>
          <p:cNvPr id="9" name="Image 1" descr="GPS trac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424" y="1783080"/>
            <a:ext cx="2110664" cy="20116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73704" y="39776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GPS tracker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573704" y="438912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WM-MFT-4G · &lt;2.5 m accuracy · 4G CAT-1 · geo-fencing · ignition monitoring · SOS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33008" y="1600200"/>
            <a:ext cx="2567864" cy="43891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pic>
        <p:nvPicPr>
          <p:cNvPr id="13" name="Image 2" descr="GPS gatew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8" y="1783080"/>
            <a:ext cx="2110664" cy="20116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15888" y="39776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GPS gateway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15888" y="438912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Asset tracking and telemetry · fleet management · secure cloud connectivity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075191" y="1600200"/>
            <a:ext cx="2567864" cy="438912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/>
        </p:spPr>
      </p:sp>
      <p:pic>
        <p:nvPicPr>
          <p:cNvPr id="17" name="Image 3" descr="4G smart 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791" y="1783080"/>
            <a:ext cx="2110664" cy="20116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258071" y="39776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4G smart lock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9258071" y="438912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Remote access control · real-time status · IP67 · with battery backup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AUTOMOTIVE ELECTRONICS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Smart instrument clusters</a:t>
            </a:r>
            <a:endParaRPr lang="en-US" sz="3200" dirty="0"/>
          </a:p>
        </p:txBody>
      </p:sp>
      <p:pic>
        <p:nvPicPr>
          <p:cNvPr id="4" name="Image 0" descr="Walnut 5-inch and 7-inch smart clus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852160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20840" y="1600200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Next-generation digital clusters with high-resolution displays, real-time vehicle data and customisable driver interfaces — built for durability and clarity.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720840" y="2926080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1" descr="C:\Users\Abcom\Documents\Walnut\catalog\source\assets\icons\FiMaximiz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533" y="3029773"/>
            <a:ext cx="176662" cy="1766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06056" y="2907792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5-inch and 7-inch displays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306056" y="3200400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Two sizes to suit compact and full-size dashboards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720840" y="3675888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2" descr="C:\Users\Abcom\Documents\Walnut\catalog\source\assets\icons\FiCpu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533" y="3779581"/>
            <a:ext cx="176662" cy="17666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06056" y="365760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Android and RTOS based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7306056" y="3950208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Smart and cost-optimised platform options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720840" y="4425696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3" descr="C:\Users\Abcom\Documents\Walnut\catalog\source\assets\icons\FiWifi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533" y="4529389"/>
            <a:ext cx="176662" cy="17666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06056" y="440740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4G · Bluetooth · Wi-Fi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306056" y="470001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Connected cluster with phone screen mirroring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72084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BUILT FOR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720840" y="5577840"/>
            <a:ext cx="1192378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720840" y="5577840"/>
            <a:ext cx="1192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2-wheelers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022946" y="5577840"/>
            <a:ext cx="2542032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022946" y="55778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Tractors &amp; farm equipment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720840" y="6016752"/>
            <a:ext cx="1102401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720840" y="6016752"/>
            <a:ext cx="11024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LMV &amp; HMV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PHONE SCREEN MIRRORING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Google maps capture on non-andriod cluster</a:t>
            </a:r>
            <a:endParaRPr lang="en-US" sz="3200" dirty="0"/>
          </a:p>
        </p:txBody>
      </p:sp>
      <p:pic>
        <p:nvPicPr>
          <p:cNvPr id="4" name="Image 0" descr="Phone showing Google Maps navig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00200"/>
            <a:ext cx="1637071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87368" y="278892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1" descr="C:\Users\Abcom\Documents\Walnut\catalog\source\assets\icons\FiCas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534" y="2974086"/>
            <a:ext cx="315468" cy="3154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17520" y="3136392"/>
            <a:ext cx="9601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dash"/>
          </a:ln>
        </p:spPr>
      </p:sp>
      <p:sp>
        <p:nvSpPr>
          <p:cNvPr id="8" name="Shape 4"/>
          <p:cNvSpPr/>
          <p:nvPr/>
        </p:nvSpPr>
        <p:spPr>
          <a:xfrm>
            <a:off x="4882896" y="3136392"/>
            <a:ext cx="9601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dash"/>
            <a:tailEnd type="triangle"/>
          </a:ln>
        </p:spPr>
      </p:sp>
      <p:pic>
        <p:nvPicPr>
          <p:cNvPr id="9" name="Image 2" descr="Cluster displaying mirrored Google Maps navig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4523362" cy="3429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5230368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3" descr="C:\Users\Abcom\Documents\Walnut\catalog\source\assets\icons\FiNavigation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5334061"/>
            <a:ext cx="176662" cy="17666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15568" y="5212080"/>
            <a:ext cx="2948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Turn-by-turn on the dash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115568" y="5486400"/>
            <a:ext cx="2948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Google Maps navigation from the rider's phone appears on the cluster screen.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338218" y="5230368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4" descr="C:\Users\Abcom\Documents\Walnut\catalog\source\assets\icons\FiEye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1911" y="5334061"/>
            <a:ext cx="176662" cy="17666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905146" y="5212080"/>
            <a:ext cx="2948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Eyes stay on the road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4905146" y="5486400"/>
            <a:ext cx="2948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Directions sit in the driver’s line of sight — no phone on the handlebar or dashboard.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8127797" y="5230368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5" descr="C:\Users\Abcom\Documents\Walnut\catalog\source\assets\icons\FiSmartphone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1490" y="5334061"/>
            <a:ext cx="176662" cy="17666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694725" y="5212080"/>
            <a:ext cx="2948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Works with your phone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8694725" y="5486400"/>
            <a:ext cx="2948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Pair over the cluster’s wireless connectivity and start navigating.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SMART TRACKING | SAFER VEHICLES | SMARTER FLEETS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GPS Tracker WM-MFT-4G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Smart tracking. Total control. 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 rugged 4G GPS tracker for real-time fleet visibility, smart geo-fencing, and route intelligence — built for tractors, auto-rickshaws, construction equipment, trucks and two-wheelers.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C:\Users\Abcom\Documents\Walnut\catalog\source\assets\icons\FiMapPi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457" y="2334097"/>
            <a:ext cx="159837" cy="1598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222199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Precision GPS tracking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247802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&lt;2.5 m positioning accuracy with continuous round-the-clock vehicle tracking.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C:\Users\Abcom\Documents\Walnut\catalog\source\assets\icons\FiRadi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57" y="2901025"/>
            <a:ext cx="159837" cy="1598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24128" y="278892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4G LTE CAT-1 connectivity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24128" y="304495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Reliable and seamless real-time data transmission anywhere on the network.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374136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2" descr="C:\Users\Abcom\Documents\Walnut\catalog\source\assets\icons\FiTarget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7" y="3467953"/>
            <a:ext cx="159837" cy="1598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24128" y="335584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Smart geo-fencing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024128" y="3611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Customisable virtual boundaries with instant entry and exit alerts.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941064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3" descr="C:\Users\Abcom\Documents\Walnut\catalog\source\assets\icons\FiClock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57" y="4034881"/>
            <a:ext cx="159837" cy="15983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24128" y="392277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10,000 location history logs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024128" y="417880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Route tracking, trip analysis and complete movement records on demand.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507992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4" descr="C:\Users\Abcom\Documents\Walnut\catalog\source\assets\icons\FiZap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57" y="4601809"/>
            <a:ext cx="159837" cy="15983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24128" y="448970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Ignition intelligence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024128" y="474573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Real-time ACC / engine ignition status monitoring and anti-theft security.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5074920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Image 5" descr="C:\Users\Abcom\Documents\Walnut\catalog\source\assets\icons\FiRefreshCw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57" y="5168737"/>
            <a:ext cx="159837" cy="15983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24128" y="505663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FOTA &amp; SOS support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1024128" y="531266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Remote over-the-air firmware upgrades plus SOS emergency button.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48640" y="5715000"/>
            <a:ext cx="892454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548640" y="5715000"/>
            <a:ext cx="8924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Tractors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1550822" y="5715000"/>
            <a:ext cx="1342339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1550822" y="5715000"/>
            <a:ext cx="13423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Auto-rickshaws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002890" y="5715000"/>
            <a:ext cx="1192378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3002890" y="5715000"/>
            <a:ext cx="1192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Construction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304995" y="5715000"/>
            <a:ext cx="742493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4304995" y="5715000"/>
            <a:ext cx="7424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Trucks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5157216" y="5715000"/>
            <a:ext cx="1192378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157216" y="5715000"/>
            <a:ext cx="1192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Two-wheelers</a:t>
            </a:r>
            <a:endParaRPr lang="en-US" sz="1000" dirty="0"/>
          </a:p>
        </p:txBody>
      </p:sp>
      <p:pic>
        <p:nvPicPr>
          <p:cNvPr id="39" name="Image 6" descr="Walnut WM-MFT-4G GPS Track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1463040"/>
            <a:ext cx="4693615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GPS TRACKER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Technical specifications — WM-MFT-4G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7665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166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GNSS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GPS + GLONASS · L1 · 33 tracking channels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&lt;2.5 m CEP · tracking −167 dBm · acquisition −149 dBm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TTFF (open sky)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Hot start &lt;5 s · cold start &lt;40 s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Cellular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LTE CAT-1 4G module · Nano-SIM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Power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9–90 V DC input · 60 mAh / 3.7 V battery · battery backup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Interface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 ignition input · 1 output (CAN optional) · LED: GNSS blue, cellular green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Physical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82.5 × 38.5 × 15.0 mm · 50 g · built-in GSM &amp; GNSS antennas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Environment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−20 °C to +70 °C · 5–95% RH, non-condensing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Data storage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Up to 10,000 history logs (as per customer requirement)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508760"/>
            <a:ext cx="4053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tx2"/>
                </a:solidFill>
              </a:rPr>
              <a:t>ADDITIONAL FEATURES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589520" y="18745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C:\Users\Abcom\Documents\Walnut\catalog\source\assets\icons\FiRadi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8275" y="1973275"/>
            <a:ext cx="168250" cy="1682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92440" y="18562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LBS positioning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21214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Cell-tower (station mode) positioning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589520" y="25603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C:\Users\Abcom\Documents\Walnut\catalog\source\assets\icons\FiTarge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75" y="2659075"/>
            <a:ext cx="168250" cy="16825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92440" y="25420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Geo-fence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8092440" y="28072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Optional customisable boundaries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589520" y="32461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2" descr="C:\Users\Abcom\Documents\Walnut\catalog\source\assets\icons\FiRefreshCw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275" y="3344875"/>
            <a:ext cx="168250" cy="16825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92440" y="32278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FOTA updates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8092440" y="34930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Firmware-over-the-air upgrades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7589520" y="39319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3" descr="C:\Users\Abcom\Documents\Walnut\catalog\source\assets\icons\FiCpu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275" y="4030675"/>
            <a:ext cx="168250" cy="16825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092440" y="39136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CAN optional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8092440" y="41788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For diagnostics or data exchange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7589520" y="46177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Image 4" descr="C:\Users\Abcom\Documents\Walnut\catalog\source\assets\icons\FiServer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275" y="4716475"/>
            <a:ext cx="168250" cy="16825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092440" y="45994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Protocol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8092440" y="48646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TCP (server based) and MQTT, customisable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7589520" y="53035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5" descr="C:\Users\Abcom\Documents\Walnut\catalog\source\assets\icons\FiAlertTriangle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8275" y="5402275"/>
            <a:ext cx="168250" cy="16825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092440" y="52852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SOS button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8092440" y="55504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Enhanced safety in critical situations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MULTI-SENSOR ASSET TRACKING &amp; TELEMETRY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GPS gateway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Reliable GPS gateway for industrial and logistics applications — multi-sensor monitoring, real-time tracking, telemetry reporting, and fleet management with secure cloud connectivity.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C:\Users\Abcom\Documents\Walnut\catalog\source\assets\icons\FiBattery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457" y="2425537"/>
            <a:ext cx="159837" cy="1598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2313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200 mAh battery backup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6060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Internal backup battery ensures continuous telemetry transmission even if main power is disconnected.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44952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C:\Users\Abcom\Documents\Walnut\catalog\source\assets\icons\FiRadi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57" y="3138769"/>
            <a:ext cx="159837" cy="1598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3026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Bluetooth &amp; GPS connectivity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33192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Dual wireless interfaces: precise GNSS location combined with BLE for wireless sensor integration.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758184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2" descr="C:\Users\Abcom\Documents\Walnut\catalog\source\assets\icons\FiActivit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7" y="3852001"/>
            <a:ext cx="159837" cy="1598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7398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Multi-sensor capability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097280" y="403250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Supports Security sensor, Fuel sensor, Temperature sensor, and Humidity sensor simultaneously.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471416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3" descr="C:\Users\Abcom\Documents\Walnut\catalog\source\assets\icons\FiTrendingUp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57" y="4565233"/>
            <a:ext cx="159837" cy="15983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97280" y="4453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Sends multiple parameters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097280" y="474573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Transmits all telemetry parameters in real time for smarter, safer, and more efficient fleet operations.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518464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4" descr="C:\Users\Abcom\Documents\Walnut\catalog\source\assets\icons\FiCloud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57" y="5278465"/>
            <a:ext cx="159837" cy="15983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9728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Secure cloud gateway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097280" y="545896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Encrypted cloud communication to fleet dashboards and mobile monitoring applications.</a:t>
            </a:r>
            <a:endParaRPr lang="en-US" sz="1100" dirty="0"/>
          </a:p>
        </p:txBody>
      </p:sp>
      <p:pic>
        <p:nvPicPr>
          <p:cNvPr id="25" name="Image 5" descr="Walnut GPS Gateway Multi-Sensor Solu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463040"/>
            <a:ext cx="5608015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IOT SECURITY &amp; FLEET CONTROL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Smart GPS &amp; IoT Monitoring Dashboard</a:t>
            </a:r>
            <a:endParaRPr lang="en-US" sz="3200" dirty="0"/>
          </a:p>
        </p:txBody>
      </p:sp>
      <p:pic>
        <p:nvPicPr>
          <p:cNvPr id="4" name="Image 0" descr="Smart GPS &amp; IoT Monitoring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66928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37960" y="1508760"/>
            <a:ext cx="5105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tx2"/>
                </a:solidFill>
              </a:rPr>
              <a:t>KEY FEATURES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37960" y="1828800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1" descr="C:\Users\Abcom\Documents\Walnut\catalog\source\assets\icons\FiMonitor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902" y="1912742"/>
            <a:ext cx="143012" cy="1430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40296" y="1810512"/>
            <a:ext cx="202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1. Device Monitoring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940296" y="2066544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Device info, firmware &amp; health status.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537960" y="2697480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2" descr="C:\Users\Abcom\Documents\Walnut\catalog\source\assets\icons\FiMapPin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902" y="2781422"/>
            <a:ext cx="143012" cy="1430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40296" y="2679192"/>
            <a:ext cx="202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2. GPS Tracking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940296" y="2935224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Real-time location, speed &amp; trip monitoring.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537960" y="3566160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3" descr="C:\Users\Abcom\Documents\Walnut\catalog\source\assets\icons\FiRadio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902" y="3650102"/>
            <a:ext cx="143012" cy="1430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940296" y="3547872"/>
            <a:ext cx="202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3. Connectivity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940296" y="3803904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4G/LTE, Bluetooth and NFC interfaces.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537960" y="4434840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4" descr="C:\Users\Abcom\Documents\Walnut\catalog\source\assets\icons\FiBattery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902" y="4518782"/>
            <a:ext cx="143012" cy="1430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40296" y="4416552"/>
            <a:ext cx="202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4. Battery Management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6940296" y="4672584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Battery level, charging and power status.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6537960" y="5303520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Image 5" descr="C:\Users\Abcom\Documents\Walnut\catalog\source\assets\icons\FiLock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902" y="5387462"/>
            <a:ext cx="143012" cy="14301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940296" y="5285232"/>
            <a:ext cx="202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5. Smart Lock Control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6940296" y="5541264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Lock/unlock status and access management.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9204808" y="1828800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6" descr="C:\Users\Abcom\Documents\Walnut\catalog\source\assets\icons\FiShield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8750" y="1912742"/>
            <a:ext cx="143012" cy="14301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607144" y="1810512"/>
            <a:ext cx="202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6. Security Monitoring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9607144" y="2066544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Tamper detection, alerts &amp; device security.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9204808" y="2697480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1" name="Image 7" descr="C:\Users\Abcom\Documents\Walnut\catalog\source\assets\icons\FiActivity-l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8750" y="2781422"/>
            <a:ext cx="143012" cy="1430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607144" y="2679192"/>
            <a:ext cx="202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7. Driving Analytics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9607144" y="2935224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Harsh braking, acceleration &amp; driving score.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9204808" y="3566160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5" name="Image 8" descr="C:\Users\Abcom\Documents\Walnut\catalog\source\assets\icons\FiTarget-l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8750" y="3650102"/>
            <a:ext cx="143012" cy="14301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607144" y="3547872"/>
            <a:ext cx="202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8. Geofencing</a:t>
            </a:r>
            <a:endParaRPr lang="en-US" sz="1200" dirty="0"/>
          </a:p>
        </p:txBody>
      </p:sp>
      <p:sp>
        <p:nvSpPr>
          <p:cNvPr id="37" name="Text 26"/>
          <p:cNvSpPr txBox="1"/>
          <p:nvPr/>
        </p:nvSpPr>
        <p:spPr>
          <a:xfrm>
            <a:off x="9607144" y="3803904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Location boundaries &amp; violation alerts.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9204808" y="4434840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9" name="Image 9" descr="C:\Users\Abcom\Documents\Walnut\catalog\source\assets\icons\FiThermometer-l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8750" y="4518782"/>
            <a:ext cx="143012" cy="14301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607144" y="4416552"/>
            <a:ext cx="202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9. Sensor Monitoring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9607144" y="4672584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Temperature, humidity &amp; motion detection.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9204808" y="5303520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3" name="Image 10" descr="C:\Users\Abcom\Documents\Walnut\catalog\source\assets\icons\FiTool-l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8750" y="5387462"/>
            <a:ext cx="143012" cy="143012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9607144" y="5285232"/>
            <a:ext cx="202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10. Remote Diagnostics</a:t>
            </a:r>
            <a:endParaRPr lang="en-US" sz="1200" dirty="0"/>
          </a:p>
        </p:txBody>
      </p:sp>
      <p:sp>
        <p:nvSpPr>
          <p:cNvPr id="45" name="Text 32"/>
          <p:cNvSpPr txBox="1"/>
          <p:nvPr/>
        </p:nvSpPr>
        <p:spPr>
          <a:xfrm>
            <a:off x="9607144" y="5541264"/>
            <a:ext cx="202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Device health, memory &amp; error monitoring.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CONNECTED VIDEO TELEMATICS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HW-EH13 — 4G Dual Camera Dashcam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Intelligent vehicle security dashcam with dual Full HD cameras, 4G LTE Cat 1 connectivity, live video streaming, and collision telematics.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394826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13948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Single Dashcam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53194" y="2103120"/>
            <a:ext cx="1237366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3194" y="2103120"/>
            <a:ext cx="12373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Dual Dashcam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0288" y="2103120"/>
            <a:ext cx="1316096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0288" y="2103120"/>
            <a:ext cx="1316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Full HD 1080p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6112" y="2103120"/>
            <a:ext cx="1237366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6112" y="2103120"/>
            <a:ext cx="12373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4G LTE Cat 1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6035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1148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Dual Camera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Front &amp; Rear/Cabin Recording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Video Quality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Full HD 1080p, 25 FPS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Connectivity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4G LTE Cat 1 module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GPS Tracking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Real-time vehicle location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Safety Features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Collision &amp; vibration alerts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Storage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Up to 128 GB MicroSD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Audio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Built-in microphone &amp; speaker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Power Supply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9–36 V DC wide input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Video Compression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H.265 / H.264 high efficiency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Compact Design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105 × 86 × 32 mm enclosure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Remote Monitoring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Video &amp; data transmission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Applications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Fleet tracking, vehicle security &amp; driver monitoring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4" name="Image 0" descr="Walnut 4G dual camera dashcam mounted on a truck wind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463040"/>
            <a:ext cx="4602175" cy="2331720"/>
          </a:xfrm>
          <a:prstGeom prst="rect">
            <a:avLst/>
          </a:prstGeom>
        </p:spPr>
      </p:pic>
      <p:pic>
        <p:nvPicPr>
          <p:cNvPr id="15" name="Image 1" descr="HW-EH13 4G Dual Camera Dashcam hardw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931920"/>
            <a:ext cx="4602175" cy="2240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05 · CLIENTS &amp; INDUSTRIES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Trusted by leading brands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5" name="Image 0" descr="HDFC B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565" y="1805940"/>
            <a:ext cx="1188720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35809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7" name="Image 1" descr="State Bank of Ind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734" y="1805940"/>
            <a:ext cx="1188720" cy="1188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22978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Payt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903" y="1805940"/>
            <a:ext cx="1188720" cy="11887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10148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1" name="Image 3" descr="Bharat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072" y="1805940"/>
            <a:ext cx="1188720" cy="11887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097317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3" name="Image 4" descr="Apoll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670" y="1805940"/>
            <a:ext cx="1111863" cy="118872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9984486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5" name="Image 5" descr="Indian Arm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1206" y="1805940"/>
            <a:ext cx="1185129" cy="118872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6" descr="C:\Users\Abcom\Documents\Walnut\catalog\source\assets\icons\FiHeart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" y="3826764"/>
            <a:ext cx="210312" cy="210312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207008" y="368503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Healthcare</a:t>
            </a:r>
            <a:endParaRPr lang="en-US" sz="1600" dirty="0"/>
          </a:p>
        </p:txBody>
      </p:sp>
      <p:sp>
        <p:nvSpPr>
          <p:cNvPr id="19" name="Text 10"/>
          <p:cNvSpPr txBox="1"/>
          <p:nvPr/>
        </p:nvSpPr>
        <p:spPr>
          <a:xfrm>
            <a:off x="1207008" y="403250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Hospitals, clinics and medical device companies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4338218" y="37033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1" name="Image 7" descr="C:\Users\Abcom\Documents\Walnut\catalog\source\assets\icons\FiShield-l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1662" y="3826764"/>
            <a:ext cx="210312" cy="21031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996586" y="368503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Defence &amp; aerospace</a:t>
            </a:r>
            <a:endParaRPr lang="en-US" sz="1600" dirty="0"/>
          </a:p>
        </p:txBody>
      </p:sp>
      <p:sp>
        <p:nvSpPr>
          <p:cNvPr id="23" name="Text 13"/>
          <p:cNvSpPr txBox="1"/>
          <p:nvPr/>
        </p:nvSpPr>
        <p:spPr>
          <a:xfrm>
            <a:off x="4996586" y="403250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Mission-critical electronics for defence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8127797" y="37033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8" descr="C:\Users\Abcom\Documents\Walnut\catalog\source\assets\icons\FiCreditCard-l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1241" y="3826764"/>
            <a:ext cx="210312" cy="210312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786165" y="368503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Banking &amp; payments</a:t>
            </a:r>
            <a:endParaRPr lang="en-US" sz="1600" dirty="0"/>
          </a:p>
        </p:txBody>
      </p:sp>
      <p:sp>
        <p:nvSpPr>
          <p:cNvPr id="27" name="Text 16"/>
          <p:cNvSpPr txBox="1"/>
          <p:nvPr/>
        </p:nvSpPr>
        <p:spPr>
          <a:xfrm>
            <a:off x="8786165" y="403250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 terminals, soundboxes and payment devices</a:t>
            </a:r>
            <a:endParaRPr lang="en-US" sz="1300" dirty="0"/>
          </a:p>
        </p:txBody>
      </p:sp>
      <p:sp>
        <p:nvSpPr>
          <p:cNvPr id="28" name="Shape 17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9" name="Image 9" descr="C:\Users\Abcom\Documents\Walnut\catalog\source\assets\icons\FiActivity-l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" y="5106924"/>
            <a:ext cx="210312" cy="21031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207008" y="496519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Pharmaceutical</a:t>
            </a:r>
            <a:endParaRPr lang="en-US" sz="1600" dirty="0"/>
          </a:p>
        </p:txBody>
      </p:sp>
      <p:sp>
        <p:nvSpPr>
          <p:cNvPr id="31" name="Text 19"/>
          <p:cNvSpPr txBox="1"/>
          <p:nvPr/>
        </p:nvSpPr>
        <p:spPr>
          <a:xfrm>
            <a:off x="1207008" y="531266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Manufacturing equipment and monitoring systems</a:t>
            </a:r>
            <a:endParaRPr lang="en-US" sz="1300" dirty="0"/>
          </a:p>
        </p:txBody>
      </p:sp>
      <p:sp>
        <p:nvSpPr>
          <p:cNvPr id="32" name="Shape 20"/>
          <p:cNvSpPr/>
          <p:nvPr/>
        </p:nvSpPr>
        <p:spPr>
          <a:xfrm>
            <a:off x="4338218" y="49834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3" name="Image 10" descr="C:\Users\Abcom\Documents\Walnut\catalog\source\assets\icons\FiZap-l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1662" y="5106924"/>
            <a:ext cx="210312" cy="210312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4996586" y="496519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Energy &amp; utilities</a:t>
            </a:r>
            <a:endParaRPr lang="en-US" sz="1600" dirty="0"/>
          </a:p>
        </p:txBody>
      </p:sp>
      <p:sp>
        <p:nvSpPr>
          <p:cNvPr id="35" name="Text 22"/>
          <p:cNvSpPr txBox="1"/>
          <p:nvPr/>
        </p:nvSpPr>
        <p:spPr>
          <a:xfrm>
            <a:off x="4996586" y="531266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Smart metering, grid monitoring, industrial controls</a:t>
            </a:r>
            <a:endParaRPr lang="en-US" sz="1300" dirty="0"/>
          </a:p>
        </p:txBody>
      </p:sp>
      <p:sp>
        <p:nvSpPr>
          <p:cNvPr id="36" name="Shape 23"/>
          <p:cNvSpPr/>
          <p:nvPr/>
        </p:nvSpPr>
        <p:spPr>
          <a:xfrm>
            <a:off x="8127797" y="49834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7" name="Image 11" descr="C:\Users\Abcom\Documents\Walnut\catalog\source\assets\icons\FiTruck-l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1241" y="5106924"/>
            <a:ext cx="210312" cy="21031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8786165" y="496519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Industrial &amp; automotive</a:t>
            </a:r>
            <a:endParaRPr lang="en-US" sz="1600" dirty="0"/>
          </a:p>
        </p:txBody>
      </p:sp>
      <p:sp>
        <p:nvSpPr>
          <p:cNvPr id="39" name="Text 25"/>
          <p:cNvSpPr txBox="1"/>
          <p:nvPr/>
        </p:nvSpPr>
        <p:spPr>
          <a:xfrm>
            <a:off x="8786165" y="531266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Industrial electronics, sensors and automotive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siness partners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pic>
        <p:nvPicPr>
          <p:cNvPr id="3" name="Image 1" descr="Walnut Technolog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1736203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5544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Let's build what's next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514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Engineering precision with user-centric design — we welcome the opportunity to collaborate with your team.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48640" y="3291840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Image 2" descr="C:\Users\Abcom\Documents\Walnut\catalog\source\assets\icons\FiMapPin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" y="3395533"/>
            <a:ext cx="176662" cy="17666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33856" y="327355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Address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1133856" y="3566160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Plot 132, JLPL Industrial Park, Sector 82, Mohali 160055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Dhanana (Upcoming in Haryana)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48640" y="4078224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mage 3" descr="C:\Users\Abcom\Documents\Walnut\catalog\source\assets\icons\FiPhon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4181917"/>
            <a:ext cx="176662" cy="17666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33856" y="4059936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Phone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1133856" y="4352544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+91 77194 63719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48640" y="4864608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mage 4" descr="C:\Users\Abcom\Documents\Walnut\catalog\source\assets\icons\FiMail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" y="4968301"/>
            <a:ext cx="176662" cy="17666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33856" y="4846320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Email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1133856" y="5138928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contact@walnutmedical.in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48640" y="5650992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9" name="Image 5" descr="C:\Users\Abcom\Documents\Walnut\catalog\source\assets\icons\FiGlobe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3" y="5754685"/>
            <a:ext cx="176662" cy="17666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33856" y="563270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Website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1133856" y="5925312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walnutmedical.in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lnut Monochrome">
  <a:themeElements>
    <a:clrScheme name="Walnut Monochrome">
      <a:dk1>
        <a:srgbClr val="111111"/>
      </a:dk1>
      <a:lt1>
        <a:srgbClr val="FFFFFF"/>
      </a:lt1>
      <a:dk2>
        <a:srgbClr val="5E5E5E"/>
      </a:dk2>
      <a:lt2>
        <a:srgbClr val="F2F2F2"/>
      </a:lt2>
      <a:accent1>
        <a:srgbClr val="111111"/>
      </a:accent1>
      <a:accent2>
        <a:srgbClr val="1E1E1E"/>
      </a:accent2>
      <a:accent3>
        <a:srgbClr val="A6A6A6"/>
      </a:accent3>
      <a:accent4>
        <a:srgbClr val="D9D9D9"/>
      </a:accent4>
      <a:accent5>
        <a:srgbClr val="3A3A3A"/>
      </a:accent5>
      <a:accent6>
        <a:srgbClr val="8C8C8C"/>
      </a:accent6>
      <a:hlink>
        <a:srgbClr val="111111"/>
      </a:hlink>
      <a:folHlink>
        <a:srgbClr val="5E5E5E"/>
      </a:folHlink>
    </a:clrScheme>
    <a:fontScheme name="Walnut 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Walnut Technologies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Walnut Technologies — Company Presentation</dc:title>
  <dc:subject>Company profile: about, journey, infrastructure, products</dc:subject>
  <dc:creator>Walnut Technologies Pvt. Ltd.</dc:creator>
  <cp:lastModifiedBy>Walnut Technologies Pvt. Ltd.</cp:lastModifiedBy>
  <cp:revision>1</cp:revision>
  <dcterms:created xsi:type="dcterms:W3CDTF">2026-10-25T06:00:27Z</dcterms:created>
  <dcterms:modified xsi:type="dcterms:W3CDTF">2026-10-25T06:00:28Z</dcterms:modified>
</cp:coreProperties>
</file>